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B3A"/>
                </a:solidFill>
                <a:latin typeface="Arial"/>
              </a:defRPr>
            </a:pPr>
            <a:r>
              <a:rPr sz="1200" b="0" i="0" u="none" strike="noStrike">
                <a:solidFill>
                  <a:srgbClr val="1B2B3A"/>
                </a:solidFill>
                <a:latin typeface="Arial"/>
              </a:rPr>
              <a:t>Churn Rate per Tipe Kontrak</a:t>
            </a:r>
          </a:p>
        </c:rich>
      </c:tx>
      <c:layout/>
      <c:overlay val="0"/>
    </c:title>
    <c:autoTitleDeleted val="0"/>
    <c:plotArea>
      <c:layout/>
      <c:barChart>
        <c:barDir val="col"/>
        <c:grouping val="clustered"/>
        <c:varyColors val="0"/>
        <c:ser>
          <c:idx val="0"/>
          <c:order val="0"/>
          <c:tx>
            <c:strRef>
              <c:f>Sheet1!$B$1</c:f>
              <c:strCache>
                <c:ptCount val="1"/>
                <c:pt idx="0">
                  <c:v>Churn Rate (%)</c:v>
                </c:pt>
              </c:strCache>
            </c:strRef>
          </c:tx>
          <c:spPr>
            <a:solidFill>
              <a:srgbClr val="E1562B"/>
            </a:solidFill>
            <a:effectLst/>
          </c:spPr>
          <c:invertIfNegative val="0"/>
          <c:dLbls>
            <c:numFmt formatCode="#,##0" sourceLinked="0"/>
            <c:txPr>
              <a:bodyPr/>
              <a:lstStyle/>
              <a:p>
                <a:pPr>
                  <a:defRPr b="0" i="0" strike="noStrike" sz="1000" u="none">
                    <a:solidFill>
                      <a:srgbClr val="1B2B3A"/>
                    </a:solidFill>
                    <a:latin typeface="Arial"/>
                  </a:defRPr>
                </a:pPr>
              </a:p>
            </c:txPr>
            <c:showLegendKey val="0"/>
            <c:showVal val="1"/>
            <c:showCatName val="0"/>
            <c:showSerName val="0"/>
            <c:showPercent val="0"/>
            <c:showBubbleSize val="0"/>
            <c:showLeaderLines val="0"/>
          </c:dLbls>
          <c:cat>
            <c:multiLvlStrRef>
              <c:f>Sheet1!$A$2:$A$4</c:f>
              <c:multiLvlStrCache>
                <c:ptCount val="3"/>
                <c:lvl>
                  <c:pt idx="0">
                    <c:v>Monthly</c:v>
                  </c:pt>
                  <c:pt idx="1">
                    <c:v>6-Month</c:v>
                  </c:pt>
                  <c:pt idx="2">
                    <c:v>Annual</c:v>
                  </c:pt>
                </c:lvl>
              </c:multiLvlStrCache>
            </c:multiLvlStrRef>
          </c:cat>
          <c:val>
            <c:numRef>
              <c:f>Sheet1!$B$2:$B$4</c:f>
              <c:numCache>
                <c:formatCode>General</c:formatCode>
                <c:ptCount val="3"/>
                <c:pt idx="0">
                  <c:v>32.38</c:v>
                </c:pt>
                <c:pt idx="1">
                  <c:v>18.39</c:v>
                </c:pt>
                <c:pt idx="2">
                  <c:v>16.67</c:v>
                </c:pt>
              </c:numCache>
            </c:numRef>
          </c:val>
        </c:ser>
        <c:dLbls>
          <c:numFmt formatCode="#,##0" sourceLinked="0"/>
          <c:txPr>
            <a:bodyPr/>
            <a:lstStyle/>
            <a:p>
              <a:pPr>
                <a:defRPr b="0" i="0" strike="noStrike" sz="1000" u="none">
                  <a:solidFill>
                    <a:srgbClr val="1B2B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08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08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B3A"/>
                </a:solidFill>
                <a:latin typeface="Arial"/>
              </a:defRPr>
            </a:pPr>
            <a:r>
              <a:rPr sz="1200" b="0" i="0" u="none" strike="noStrike">
                <a:solidFill>
                  <a:srgbClr val="1B2B3A"/>
                </a:solidFill>
                <a:latin typeface="Arial"/>
              </a:rPr>
              <a:t>Churn Rate berdasarkan Autopay</a:t>
            </a:r>
          </a:p>
        </c:rich>
      </c:tx>
      <c:layout/>
      <c:overlay val="0"/>
    </c:title>
    <c:autoTitleDeleted val="0"/>
    <c:plotArea>
      <c:layout/>
      <c:barChart>
        <c:barDir val="col"/>
        <c:grouping val="clustered"/>
        <c:varyColors val="0"/>
        <c:ser>
          <c:idx val="0"/>
          <c:order val="0"/>
          <c:tx>
            <c:strRef>
              <c:f>Sheet1!$B$1</c:f>
              <c:strCache>
                <c:ptCount val="1"/>
                <c:pt idx="0">
                  <c:v>Churn Rate (%)</c:v>
                </c:pt>
              </c:strCache>
            </c:strRef>
          </c:tx>
          <c:spPr>
            <a:solidFill>
              <a:srgbClr val="1E4A73"/>
            </a:solidFill>
            <a:effectLst/>
          </c:spPr>
          <c:invertIfNegative val="0"/>
          <c:dLbls>
            <c:numFmt formatCode="#,##0" sourceLinked="0"/>
            <c:txPr>
              <a:bodyPr/>
              <a:lstStyle/>
              <a:p>
                <a:pPr>
                  <a:defRPr b="0" i="0" strike="noStrike" sz="1000" u="none">
                    <a:solidFill>
                      <a:srgbClr val="1B2B3A"/>
                    </a:solidFill>
                    <a:latin typeface="Arial"/>
                  </a:defRPr>
                </a:pPr>
              </a:p>
            </c:txPr>
            <c:showLegendKey val="0"/>
            <c:showVal val="1"/>
            <c:showCatName val="0"/>
            <c:showSerName val="0"/>
            <c:showPercent val="0"/>
            <c:showBubbleSize val="0"/>
            <c:showLeaderLines val="0"/>
          </c:dLbls>
          <c:cat>
            <c:multiLvlStrRef>
              <c:f>Sheet1!$A$2:$A$3</c:f>
              <c:multiLvlStrCache>
                <c:ptCount val="2"/>
                <c:lvl>
                  <c:pt idx="0">
                    <c:v>Autopay: Ya</c:v>
                  </c:pt>
                  <c:pt idx="1">
                    <c:v>Autopay: Tidak</c:v>
                  </c:pt>
                </c:lvl>
              </c:multiLvlStrCache>
            </c:multiLvlStrRef>
          </c:cat>
          <c:val>
            <c:numRef>
              <c:f>Sheet1!$B$2:$B$3</c:f>
              <c:numCache>
                <c:formatCode>General</c:formatCode>
                <c:ptCount val="2"/>
                <c:pt idx="0">
                  <c:v>19.8</c:v>
                </c:pt>
                <c:pt idx="1">
                  <c:v>29.6</c:v>
                </c:pt>
              </c:numCache>
            </c:numRef>
          </c:val>
        </c:ser>
        <c:dLbls>
          <c:numFmt formatCode="#,##0" sourceLinked="0"/>
          <c:txPr>
            <a:bodyPr/>
            <a:lstStyle/>
            <a:p>
              <a:pPr>
                <a:defRPr b="0" i="0" strike="noStrike" sz="1000" u="none">
                  <a:solidFill>
                    <a:srgbClr val="1B2B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08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08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12314F"/>
            </a:solidFill>
            <a:effectLst/>
          </c:spPr>
          <c:invertIfNegative val="0"/>
          <c:dLbls>
            <c:numFmt formatCode="#,##0" sourceLinked="0"/>
            <c:txPr>
              <a:bodyPr/>
              <a:lstStyle/>
              <a:p>
                <a:pPr>
                  <a:defRPr b="0" i="0" strike="noStrike" sz="1000" u="none">
                    <a:solidFill>
                      <a:srgbClr val="1B2B3A"/>
                    </a:solidFill>
                    <a:latin typeface="Arial"/>
                  </a:defRPr>
                </a:pPr>
              </a:p>
            </c:txPr>
            <c:showLegendKey val="0"/>
            <c:showVal val="1"/>
            <c:showCatName val="0"/>
            <c:showSerName val="0"/>
            <c:showPercent val="0"/>
            <c:showBubbleSize val="0"/>
            <c:showLeaderLines val="0"/>
          </c:dLbls>
          <c:cat>
            <c:multiLvlStrRef>
              <c:f>Sheet1!$A$2:$A$8</c:f>
              <c:multiLvlStrCache>
                <c:ptCount val="7"/>
                <c:lvl>
                  <c:pt idx="0">
                    <c:v>contract_type</c:v>
                  </c:pt>
                  <c:pt idx="1">
                    <c:v>support_calls</c:v>
                  </c:pt>
                  <c:pt idx="2">
                    <c:v>tenure_months</c:v>
                  </c:pt>
                  <c:pt idx="3">
                    <c:v>support_per_tenure</c:v>
                  </c:pt>
                  <c:pt idx="4">
                    <c:v>downtime_per_tenure</c:v>
                  </c:pt>
                  <c:pt idx="5">
                    <c:v>monthly_charge</c:v>
                  </c:pt>
                  <c:pt idx="6">
                    <c:v>region</c:v>
                  </c:pt>
                </c:lvl>
              </c:multiLvlStrCache>
            </c:multiLvlStrRef>
          </c:cat>
          <c:val>
            <c:numRef>
              <c:f>Sheet1!$B$2:$B$8</c:f>
              <c:numCache>
                <c:formatCode>General</c:formatCode>
                <c:ptCount val="7"/>
                <c:pt idx="0">
                  <c:v>0.21</c:v>
                </c:pt>
                <c:pt idx="1">
                  <c:v>0.17</c:v>
                </c:pt>
                <c:pt idx="2">
                  <c:v>0.14</c:v>
                </c:pt>
                <c:pt idx="3">
                  <c:v>0.12</c:v>
                </c:pt>
                <c:pt idx="4">
                  <c:v>0.1</c:v>
                </c:pt>
                <c:pt idx="5">
                  <c:v>0.07</c:v>
                </c:pt>
                <c:pt idx="6">
                  <c:v>0.05</c:v>
                </c:pt>
              </c:numCache>
            </c:numRef>
          </c:val>
        </c:ser>
        <c:dLbls>
          <c:numFmt formatCode="#,##0" sourceLinked="0"/>
          <c:txPr>
            <a:bodyPr/>
            <a:lstStyle/>
            <a:p>
              <a:pPr>
                <a:defRPr b="0" i="0" strike="noStrike" sz="1000" u="none">
                  <a:solidFill>
                    <a:srgbClr val="1B2B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B3A"/>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708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14F"/>
        </a:solidFill>
      </p:bgPr>
    </p:bg>
    <p:spTree>
      <p:nvGrpSpPr>
        <p:cNvPr id="1" name=""/>
        <p:cNvGrpSpPr/>
        <p:nvPr/>
      </p:nvGrpSpPr>
      <p:grpSpPr>
        <a:xfrm>
          <a:off x="0" y="0"/>
          <a:ext cx="0" cy="0"/>
          <a:chOff x="0" y="0"/>
          <a:chExt cx="0" cy="0"/>
        </a:xfrm>
      </p:grpSpPr>
      <p:sp>
        <p:nvSpPr>
          <p:cNvPr id="2" name="Shape 0"/>
          <p:cNvSpPr/>
          <p:nvPr/>
        </p:nvSpPr>
        <p:spPr>
          <a:xfrm>
            <a:off x="9692640" y="4206240"/>
            <a:ext cx="4114800" cy="4114800"/>
          </a:xfrm>
          <a:prstGeom prst="ellipse">
            <a:avLst/>
          </a:prstGeom>
          <a:solidFill>
            <a:srgbClr val="1E4A73">
              <a:alpha val="60000"/>
            </a:srgbClr>
          </a:solidFill>
          <a:ln/>
        </p:spPr>
      </p:sp>
      <p:sp>
        <p:nvSpPr>
          <p:cNvPr id="3" name="Shape 1"/>
          <p:cNvSpPr/>
          <p:nvPr/>
        </p:nvSpPr>
        <p:spPr>
          <a:xfrm>
            <a:off x="10972800" y="5120640"/>
            <a:ext cx="2377440" cy="2377440"/>
          </a:xfrm>
          <a:prstGeom prst="ellipse">
            <a:avLst/>
          </a:prstGeom>
          <a:solidFill>
            <a:srgbClr val="E1562B">
              <a:alpha val="45000"/>
            </a:srgbClr>
          </a:solidFill>
          <a:ln/>
        </p:spPr>
      </p:sp>
      <p:sp>
        <p:nvSpPr>
          <p:cNvPr id="4" name="Text 2"/>
          <p:cNvSpPr/>
          <p:nvPr/>
        </p:nvSpPr>
        <p:spPr>
          <a:xfrm>
            <a:off x="822960" y="2148840"/>
            <a:ext cx="8961120" cy="1371600"/>
          </a:xfrm>
          <a:prstGeom prst="rect">
            <a:avLst/>
          </a:prstGeom>
          <a:noFill/>
          <a:ln/>
        </p:spPr>
        <p:txBody>
          <a:bodyPr wrap="square" rtlCol="0" anchor="ctr"/>
          <a:lstStyle/>
          <a:p>
            <a:pPr algn="l" indent="0" marL="0">
              <a:lnSpc>
                <a:spcPts val="4400"/>
              </a:lnSpc>
              <a:buNone/>
            </a:pPr>
            <a:r>
              <a:rPr lang="en-US" sz="4000" b="1" spc="50" kern="0" dirty="0">
                <a:solidFill>
                  <a:srgbClr val="FFFFFF"/>
                </a:solidFill>
                <a:latin typeface="Cambria" pitchFamily="34" charset="0"/>
                <a:ea typeface="Cambria" pitchFamily="34" charset="-122"/>
                <a:cs typeface="Cambria" pitchFamily="34" charset="-120"/>
              </a:rPr>
              <a:t>FIXED BROADBAND CUSTOMER CHURN PREDICTION</a:t>
            </a:r>
            <a:endParaRPr lang="en-US" sz="4000" dirty="0"/>
          </a:p>
        </p:txBody>
      </p:sp>
      <p:sp>
        <p:nvSpPr>
          <p:cNvPr id="5" name="Text 3"/>
          <p:cNvSpPr/>
          <p:nvPr/>
        </p:nvSpPr>
        <p:spPr>
          <a:xfrm>
            <a:off x="822960" y="3520440"/>
            <a:ext cx="7863840" cy="640080"/>
          </a:xfrm>
          <a:prstGeom prst="rect">
            <a:avLst/>
          </a:prstGeom>
          <a:noFill/>
          <a:ln/>
        </p:spPr>
        <p:txBody>
          <a:bodyPr wrap="square" rtlCol="0" anchor="ctr"/>
          <a:lstStyle/>
          <a:p>
            <a:pPr algn="l" indent="0" marL="0">
              <a:buNone/>
            </a:pPr>
            <a:r>
              <a:rPr lang="en-US" sz="1600" i="1" dirty="0">
                <a:solidFill>
                  <a:srgbClr val="C7D8E6"/>
                </a:solidFill>
                <a:latin typeface="Calibri" pitchFamily="34" charset="0"/>
                <a:ea typeface="Calibri" pitchFamily="34" charset="-122"/>
                <a:cs typeface="Calibri" pitchFamily="34" charset="-120"/>
              </a:rPr>
              <a:t>Mengidentifikasi pelanggan berisiko churn pada layanan Fixed Broadband PT ABC menggunakan XGBoost</a:t>
            </a:r>
            <a:endParaRPr lang="en-US" sz="1600" dirty="0"/>
          </a:p>
        </p:txBody>
      </p:sp>
      <p:sp>
        <p:nvSpPr>
          <p:cNvPr id="6" name="Text 4"/>
          <p:cNvSpPr/>
          <p:nvPr/>
        </p:nvSpPr>
        <p:spPr>
          <a:xfrm>
            <a:off x="822960" y="5806440"/>
            <a:ext cx="54864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Ahmad Miftahul Farohi</a:t>
            </a:r>
            <a:endParaRPr lang="en-US" sz="1400" dirty="0"/>
          </a:p>
        </p:txBody>
      </p:sp>
      <p:sp>
        <p:nvSpPr>
          <p:cNvPr id="7" name="Text 5"/>
          <p:cNvSpPr/>
          <p:nvPr/>
        </p:nvSpPr>
        <p:spPr>
          <a:xfrm>
            <a:off x="822960" y="6108192"/>
            <a:ext cx="5486400" cy="320040"/>
          </a:xfrm>
          <a:prstGeom prst="rect">
            <a:avLst/>
          </a:prstGeom>
          <a:noFill/>
          <a:ln/>
        </p:spPr>
        <p:txBody>
          <a:bodyPr wrap="square" rtlCol="0" anchor="ctr"/>
          <a:lstStyle/>
          <a:p>
            <a:pPr indent="0" marL="0">
              <a:buNone/>
            </a:pPr>
            <a:r>
              <a:rPr lang="en-US" sz="1100" dirty="0">
                <a:solidFill>
                  <a:srgbClr val="8FA7BE"/>
                </a:solidFill>
                <a:latin typeface="Calibri" pitchFamily="34" charset="0"/>
                <a:ea typeface="Calibri" pitchFamily="34" charset="-122"/>
                <a:cs typeface="Calibri" pitchFamily="34" charset="-120"/>
              </a:rPr>
              <a:t>Data Analyst / Data Science Portfolio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 cy="1097280"/>
          </a:xfrm>
          <a:prstGeom prst="rect">
            <a:avLst/>
          </a:prstGeom>
          <a:noFill/>
          <a:ln/>
        </p:spPr>
        <p:txBody>
          <a:bodyPr wrap="square" rtlCol="0" anchor="ctr"/>
          <a:lstStyle/>
          <a:p>
            <a:pPr algn="l" indent="0" marL="0">
              <a:buNone/>
            </a:pPr>
            <a:r>
              <a:rPr lang="en-US" sz="5400" b="1" dirty="0">
                <a:solidFill>
                  <a:srgbClr val="EAF1F7"/>
                </a:solidFill>
                <a:latin typeface="Cambria" pitchFamily="34" charset="0"/>
                <a:ea typeface="Cambria" pitchFamily="34" charset="-122"/>
                <a:cs typeface="Cambria" pitchFamily="34" charset="-120"/>
              </a:rPr>
              <a:t>S</a:t>
            </a:r>
            <a:endParaRPr lang="en-US" sz="5400" dirty="0"/>
          </a:p>
        </p:txBody>
      </p:sp>
      <p:sp>
        <p:nvSpPr>
          <p:cNvPr id="3" name="Text 1"/>
          <p:cNvSpPr/>
          <p:nvPr/>
        </p:nvSpPr>
        <p:spPr>
          <a:xfrm>
            <a:off x="822960" y="502920"/>
            <a:ext cx="3657600" cy="365760"/>
          </a:xfrm>
          <a:prstGeom prst="rect">
            <a:avLst/>
          </a:prstGeom>
          <a:noFill/>
          <a:ln/>
        </p:spPr>
        <p:txBody>
          <a:bodyPr wrap="square" rtlCol="0" anchor="ctr"/>
          <a:lstStyle/>
          <a:p>
            <a:pPr indent="0" marL="0">
              <a:buNone/>
            </a:pPr>
            <a:r>
              <a:rPr lang="en-US" sz="1300" b="1" spc="200" kern="0" dirty="0">
                <a:solidFill>
                  <a:srgbClr val="E1562B"/>
                </a:solidFill>
                <a:latin typeface="Calibri" pitchFamily="34" charset="0"/>
                <a:ea typeface="Calibri" pitchFamily="34" charset="-122"/>
                <a:cs typeface="Calibri" pitchFamily="34" charset="-120"/>
              </a:rPr>
              <a:t>SITUATION</a:t>
            </a:r>
            <a:endParaRPr lang="en-US" sz="1300" dirty="0"/>
          </a:p>
        </p:txBody>
      </p:sp>
      <p:sp>
        <p:nvSpPr>
          <p:cNvPr id="4" name="Text 2"/>
          <p:cNvSpPr/>
          <p:nvPr/>
        </p:nvSpPr>
        <p:spPr>
          <a:xfrm>
            <a:off x="822960" y="868680"/>
            <a:ext cx="9144000" cy="640080"/>
          </a:xfrm>
          <a:prstGeom prst="rect">
            <a:avLst/>
          </a:prstGeom>
          <a:noFill/>
          <a:ln/>
        </p:spPr>
        <p:txBody>
          <a:bodyPr wrap="square" rtlCol="0" anchor="ctr"/>
          <a:lstStyle/>
          <a:p>
            <a:pPr indent="0" marL="0">
              <a:buNone/>
            </a:pPr>
            <a:r>
              <a:rPr lang="en-US" sz="3000" b="1" dirty="0">
                <a:solidFill>
                  <a:srgbClr val="12314F"/>
                </a:solidFill>
                <a:latin typeface="Cambria" pitchFamily="34" charset="0"/>
                <a:ea typeface="Cambria" pitchFamily="34" charset="-122"/>
                <a:cs typeface="Cambria" pitchFamily="34" charset="-120"/>
              </a:rPr>
              <a:t>PT ABC &amp; Layanan Fixed Broadband</a:t>
            </a:r>
            <a:endParaRPr lang="en-US" sz="3000" dirty="0"/>
          </a:p>
        </p:txBody>
      </p:sp>
      <p:sp>
        <p:nvSpPr>
          <p:cNvPr id="5" name="Text 3"/>
          <p:cNvSpPr/>
          <p:nvPr/>
        </p:nvSpPr>
        <p:spPr>
          <a:xfrm>
            <a:off x="822960" y="1783080"/>
            <a:ext cx="6400800" cy="1828800"/>
          </a:xfrm>
          <a:prstGeom prst="rect">
            <a:avLst/>
          </a:prstGeom>
          <a:noFill/>
          <a:ln/>
        </p:spPr>
        <p:txBody>
          <a:bodyPr wrap="square" rtlCol="0" anchor="ctr"/>
          <a:lstStyle/>
          <a:p>
            <a:pPr indent="0" marL="0">
              <a:lnSpc>
                <a:spcPts val="2400"/>
              </a:lnSpc>
              <a:buNone/>
            </a:pPr>
            <a:r>
              <a:rPr lang="en-US" sz="1500" dirty="0">
                <a:solidFill>
                  <a:srgbClr val="1B2B3A"/>
                </a:solidFill>
                <a:latin typeface="Calibri" pitchFamily="34" charset="0"/>
                <a:ea typeface="Calibri" pitchFamily="34" charset="-122"/>
                <a:cs typeface="Calibri" pitchFamily="34" charset="-120"/>
              </a:rPr>
              <a:t>PT ABC bergerak di bidang IT dan telekomunikasi dengan fokus pada layanan Fixed Broadband. Sebagai Data Scientist, tugas utama adalah menerjemahkan permasalahan bisnis menjadi solusi analitik yang dapat langsung dimanfaatkan oleh tim bisnis.</a:t>
            </a:r>
            <a:endParaRPr lang="en-US" sz="1500" dirty="0"/>
          </a:p>
        </p:txBody>
      </p:sp>
      <p:sp>
        <p:nvSpPr>
          <p:cNvPr id="6" name="Text 4"/>
          <p:cNvSpPr/>
          <p:nvPr/>
        </p:nvSpPr>
        <p:spPr>
          <a:xfrm>
            <a:off x="822960" y="3429000"/>
            <a:ext cx="5486400" cy="274320"/>
          </a:xfrm>
          <a:prstGeom prst="rect">
            <a:avLst/>
          </a:prstGeom>
          <a:noFill/>
          <a:ln/>
        </p:spPr>
        <p:txBody>
          <a:bodyPr wrap="square" rtlCol="0" anchor="ctr"/>
          <a:lstStyle/>
          <a:p>
            <a:pPr indent="0" marL="0">
              <a:buNone/>
            </a:pPr>
            <a:r>
              <a:rPr lang="en-US" sz="1100" b="1" spc="150" kern="0" dirty="0">
                <a:solidFill>
                  <a:srgbClr val="5C7086"/>
                </a:solidFill>
                <a:latin typeface="Calibri" pitchFamily="34" charset="0"/>
                <a:ea typeface="Calibri" pitchFamily="34" charset="-122"/>
                <a:cs typeface="Calibri" pitchFamily="34" charset="-120"/>
              </a:rPr>
              <a:t>SKILLS YANG DITUNJUKKAN</a:t>
            </a:r>
            <a:endParaRPr lang="en-US" sz="1100" dirty="0"/>
          </a:p>
        </p:txBody>
      </p:sp>
      <p:sp>
        <p:nvSpPr>
          <p:cNvPr id="7" name="Shape 5"/>
          <p:cNvSpPr/>
          <p:nvPr/>
        </p:nvSpPr>
        <p:spPr>
          <a:xfrm>
            <a:off x="822960" y="3794760"/>
            <a:ext cx="502920" cy="502920"/>
          </a:xfrm>
          <a:prstGeom prst="ellipse">
            <a:avLst/>
          </a:prstGeom>
          <a:solidFill>
            <a:srgbClr val="12314F"/>
          </a:solidFill>
          <a:ln/>
        </p:spPr>
      </p:sp>
      <p:pic>
        <p:nvPicPr>
          <p:cNvPr id="8" name="Image 0" descr="/home/claude/churn_ppt/icons/search.png">    </p:cNvPr>
          <p:cNvPicPr>
            <a:picLocks noChangeAspect="1"/>
          </p:cNvPicPr>
          <p:nvPr/>
        </p:nvPicPr>
        <p:blipFill>
          <a:blip r:embed="rId1"/>
          <a:stretch>
            <a:fillRect/>
          </a:stretch>
        </p:blipFill>
        <p:spPr>
          <a:xfrm>
            <a:off x="936117" y="3907917"/>
            <a:ext cx="276606" cy="276606"/>
          </a:xfrm>
          <a:prstGeom prst="rect">
            <a:avLst/>
          </a:prstGeom>
        </p:spPr>
      </p:pic>
      <p:sp>
        <p:nvSpPr>
          <p:cNvPr id="9" name="Text 6"/>
          <p:cNvSpPr/>
          <p:nvPr/>
        </p:nvSpPr>
        <p:spPr>
          <a:xfrm>
            <a:off x="1463040" y="3813048"/>
            <a:ext cx="1554480" cy="502920"/>
          </a:xfrm>
          <a:prstGeom prst="rect">
            <a:avLst/>
          </a:prstGeom>
          <a:noFill/>
          <a:ln/>
        </p:spPr>
        <p:txBody>
          <a:bodyPr wrap="square" rtlCol="0" anchor="ctr"/>
          <a:lstStyle/>
          <a:p>
            <a:pPr indent="0" marL="0">
              <a:lnSpc>
                <a:spcPts val="1300"/>
              </a:lnSpc>
              <a:buNone/>
            </a:pPr>
            <a:r>
              <a:rPr lang="en-US" sz="1150" dirty="0">
                <a:solidFill>
                  <a:srgbClr val="1B2B3A"/>
                </a:solidFill>
                <a:latin typeface="Calibri" pitchFamily="34" charset="0"/>
                <a:ea typeface="Calibri" pitchFamily="34" charset="-122"/>
                <a:cs typeface="Calibri" pitchFamily="34" charset="-120"/>
              </a:rPr>
              <a:t>Exploratory Data Analysis</a:t>
            </a:r>
            <a:endParaRPr lang="en-US" sz="1150" dirty="0"/>
          </a:p>
        </p:txBody>
      </p:sp>
      <p:sp>
        <p:nvSpPr>
          <p:cNvPr id="10" name="Shape 7"/>
          <p:cNvSpPr/>
          <p:nvPr/>
        </p:nvSpPr>
        <p:spPr>
          <a:xfrm>
            <a:off x="3108960" y="3794760"/>
            <a:ext cx="502920" cy="502920"/>
          </a:xfrm>
          <a:prstGeom prst="ellipse">
            <a:avLst/>
          </a:prstGeom>
          <a:solidFill>
            <a:srgbClr val="12314F"/>
          </a:solidFill>
          <a:ln/>
        </p:spPr>
      </p:sp>
      <p:pic>
        <p:nvPicPr>
          <p:cNvPr id="11" name="Image 1" descr="/home/claude/churn_ppt/icons/cogs.png">    </p:cNvPr>
          <p:cNvPicPr>
            <a:picLocks noChangeAspect="1"/>
          </p:cNvPicPr>
          <p:nvPr/>
        </p:nvPicPr>
        <p:blipFill>
          <a:blip r:embed="rId2"/>
          <a:stretch>
            <a:fillRect/>
          </a:stretch>
        </p:blipFill>
        <p:spPr>
          <a:xfrm>
            <a:off x="3222117" y="3907917"/>
            <a:ext cx="276606" cy="276606"/>
          </a:xfrm>
          <a:prstGeom prst="rect">
            <a:avLst/>
          </a:prstGeom>
        </p:spPr>
      </p:pic>
      <p:sp>
        <p:nvSpPr>
          <p:cNvPr id="12" name="Text 8"/>
          <p:cNvSpPr/>
          <p:nvPr/>
        </p:nvSpPr>
        <p:spPr>
          <a:xfrm>
            <a:off x="3749040" y="3813048"/>
            <a:ext cx="1554480" cy="502920"/>
          </a:xfrm>
          <a:prstGeom prst="rect">
            <a:avLst/>
          </a:prstGeom>
          <a:noFill/>
          <a:ln/>
        </p:spPr>
        <p:txBody>
          <a:bodyPr wrap="square" rtlCol="0" anchor="ctr"/>
          <a:lstStyle/>
          <a:p>
            <a:pPr indent="0" marL="0">
              <a:lnSpc>
                <a:spcPts val="1300"/>
              </a:lnSpc>
              <a:buNone/>
            </a:pPr>
            <a:r>
              <a:rPr lang="en-US" sz="1150" dirty="0">
                <a:solidFill>
                  <a:srgbClr val="1B2B3A"/>
                </a:solidFill>
                <a:latin typeface="Calibri" pitchFamily="34" charset="0"/>
                <a:ea typeface="Calibri" pitchFamily="34" charset="-122"/>
                <a:cs typeface="Calibri" pitchFamily="34" charset="-120"/>
              </a:rPr>
              <a:t>Feature Engineering</a:t>
            </a:r>
            <a:endParaRPr lang="en-US" sz="1150" dirty="0"/>
          </a:p>
        </p:txBody>
      </p:sp>
      <p:sp>
        <p:nvSpPr>
          <p:cNvPr id="13" name="Shape 9"/>
          <p:cNvSpPr/>
          <p:nvPr/>
        </p:nvSpPr>
        <p:spPr>
          <a:xfrm>
            <a:off x="5394960" y="3794760"/>
            <a:ext cx="502920" cy="502920"/>
          </a:xfrm>
          <a:prstGeom prst="ellipse">
            <a:avLst/>
          </a:prstGeom>
          <a:solidFill>
            <a:srgbClr val="12314F"/>
          </a:solidFill>
          <a:ln/>
        </p:spPr>
      </p:sp>
      <p:pic>
        <p:nvPicPr>
          <p:cNvPr id="14" name="Image 2" descr="/home/claude/churn_ppt/icons/brain.png">    </p:cNvPr>
          <p:cNvPicPr>
            <a:picLocks noChangeAspect="1"/>
          </p:cNvPicPr>
          <p:nvPr/>
        </p:nvPicPr>
        <p:blipFill>
          <a:blip r:embed="rId3"/>
          <a:stretch>
            <a:fillRect/>
          </a:stretch>
        </p:blipFill>
        <p:spPr>
          <a:xfrm>
            <a:off x="5508117" y="3907917"/>
            <a:ext cx="276606" cy="276606"/>
          </a:xfrm>
          <a:prstGeom prst="rect">
            <a:avLst/>
          </a:prstGeom>
        </p:spPr>
      </p:pic>
      <p:sp>
        <p:nvSpPr>
          <p:cNvPr id="15" name="Text 10"/>
          <p:cNvSpPr/>
          <p:nvPr/>
        </p:nvSpPr>
        <p:spPr>
          <a:xfrm>
            <a:off x="6035040" y="3813048"/>
            <a:ext cx="1554480" cy="502920"/>
          </a:xfrm>
          <a:prstGeom prst="rect">
            <a:avLst/>
          </a:prstGeom>
          <a:noFill/>
          <a:ln/>
        </p:spPr>
        <p:txBody>
          <a:bodyPr wrap="square" rtlCol="0" anchor="ctr"/>
          <a:lstStyle/>
          <a:p>
            <a:pPr indent="0" marL="0">
              <a:lnSpc>
                <a:spcPts val="1300"/>
              </a:lnSpc>
              <a:buNone/>
            </a:pPr>
            <a:r>
              <a:rPr lang="en-US" sz="1150" dirty="0">
                <a:solidFill>
                  <a:srgbClr val="1B2B3A"/>
                </a:solidFill>
                <a:latin typeface="Calibri" pitchFamily="34" charset="0"/>
                <a:ea typeface="Calibri" pitchFamily="34" charset="-122"/>
                <a:cs typeface="Calibri" pitchFamily="34" charset="-120"/>
              </a:rPr>
              <a:t>Model Training &amp; Tuning</a:t>
            </a:r>
            <a:endParaRPr lang="en-US" sz="1150" dirty="0"/>
          </a:p>
        </p:txBody>
      </p:sp>
      <p:sp>
        <p:nvSpPr>
          <p:cNvPr id="16" name="Shape 11"/>
          <p:cNvSpPr/>
          <p:nvPr/>
        </p:nvSpPr>
        <p:spPr>
          <a:xfrm>
            <a:off x="822960" y="4800600"/>
            <a:ext cx="502920" cy="502920"/>
          </a:xfrm>
          <a:prstGeom prst="ellipse">
            <a:avLst/>
          </a:prstGeom>
          <a:solidFill>
            <a:srgbClr val="12314F"/>
          </a:solidFill>
          <a:ln/>
        </p:spPr>
      </p:sp>
      <p:pic>
        <p:nvPicPr>
          <p:cNvPr id="17" name="Image 3" descr="/home/claude/churn_ppt/icons/chartbar.png">    </p:cNvPr>
          <p:cNvPicPr>
            <a:picLocks noChangeAspect="1"/>
          </p:cNvPicPr>
          <p:nvPr/>
        </p:nvPicPr>
        <p:blipFill>
          <a:blip r:embed="rId4"/>
          <a:stretch>
            <a:fillRect/>
          </a:stretch>
        </p:blipFill>
        <p:spPr>
          <a:xfrm>
            <a:off x="936117" y="4913757"/>
            <a:ext cx="276606" cy="276606"/>
          </a:xfrm>
          <a:prstGeom prst="rect">
            <a:avLst/>
          </a:prstGeom>
        </p:spPr>
      </p:pic>
      <p:sp>
        <p:nvSpPr>
          <p:cNvPr id="18" name="Text 12"/>
          <p:cNvSpPr/>
          <p:nvPr/>
        </p:nvSpPr>
        <p:spPr>
          <a:xfrm>
            <a:off x="1463040" y="4818888"/>
            <a:ext cx="1554480" cy="502920"/>
          </a:xfrm>
          <a:prstGeom prst="rect">
            <a:avLst/>
          </a:prstGeom>
          <a:noFill/>
          <a:ln/>
        </p:spPr>
        <p:txBody>
          <a:bodyPr wrap="square" rtlCol="0" anchor="ctr"/>
          <a:lstStyle/>
          <a:p>
            <a:pPr indent="0" marL="0">
              <a:lnSpc>
                <a:spcPts val="1300"/>
              </a:lnSpc>
              <a:buNone/>
            </a:pPr>
            <a:r>
              <a:rPr lang="en-US" sz="1150" dirty="0">
                <a:solidFill>
                  <a:srgbClr val="1B2B3A"/>
                </a:solidFill>
                <a:latin typeface="Calibri" pitchFamily="34" charset="0"/>
                <a:ea typeface="Calibri" pitchFamily="34" charset="-122"/>
                <a:cs typeface="Calibri" pitchFamily="34" charset="-120"/>
              </a:rPr>
              <a:t>Model Evaluation</a:t>
            </a:r>
            <a:endParaRPr lang="en-US" sz="1150" dirty="0"/>
          </a:p>
        </p:txBody>
      </p:sp>
      <p:sp>
        <p:nvSpPr>
          <p:cNvPr id="19" name="Shape 13"/>
          <p:cNvSpPr/>
          <p:nvPr/>
        </p:nvSpPr>
        <p:spPr>
          <a:xfrm>
            <a:off x="3108960" y="4800600"/>
            <a:ext cx="502920" cy="502920"/>
          </a:xfrm>
          <a:prstGeom prst="ellipse">
            <a:avLst/>
          </a:prstGeom>
          <a:solidFill>
            <a:srgbClr val="12314F"/>
          </a:solidFill>
          <a:ln/>
        </p:spPr>
      </p:sp>
      <p:pic>
        <p:nvPicPr>
          <p:cNvPr id="20" name="Image 4" descr="/home/claude/churn_ppt/icons/bulb.png">    </p:cNvPr>
          <p:cNvPicPr>
            <a:picLocks noChangeAspect="1"/>
          </p:cNvPicPr>
          <p:nvPr/>
        </p:nvPicPr>
        <p:blipFill>
          <a:blip r:embed="rId5"/>
          <a:stretch>
            <a:fillRect/>
          </a:stretch>
        </p:blipFill>
        <p:spPr>
          <a:xfrm>
            <a:off x="3222117" y="4913757"/>
            <a:ext cx="276606" cy="276606"/>
          </a:xfrm>
          <a:prstGeom prst="rect">
            <a:avLst/>
          </a:prstGeom>
        </p:spPr>
      </p:pic>
      <p:sp>
        <p:nvSpPr>
          <p:cNvPr id="21" name="Text 14"/>
          <p:cNvSpPr/>
          <p:nvPr/>
        </p:nvSpPr>
        <p:spPr>
          <a:xfrm>
            <a:off x="3749040" y="4818888"/>
            <a:ext cx="1554480" cy="502920"/>
          </a:xfrm>
          <a:prstGeom prst="rect">
            <a:avLst/>
          </a:prstGeom>
          <a:noFill/>
          <a:ln/>
        </p:spPr>
        <p:txBody>
          <a:bodyPr wrap="square" rtlCol="0" anchor="ctr"/>
          <a:lstStyle/>
          <a:p>
            <a:pPr indent="0" marL="0">
              <a:lnSpc>
                <a:spcPts val="1300"/>
              </a:lnSpc>
              <a:buNone/>
            </a:pPr>
            <a:r>
              <a:rPr lang="en-US" sz="1150" dirty="0">
                <a:solidFill>
                  <a:srgbClr val="1B2B3A"/>
                </a:solidFill>
                <a:latin typeface="Calibri" pitchFamily="34" charset="0"/>
                <a:ea typeface="Calibri" pitchFamily="34" charset="-122"/>
                <a:cs typeface="Calibri" pitchFamily="34" charset="-120"/>
              </a:rPr>
              <a:t>Business Insight</a:t>
            </a:r>
            <a:endParaRPr lang="en-US" sz="1150" dirty="0"/>
          </a:p>
        </p:txBody>
      </p:sp>
      <p:sp>
        <p:nvSpPr>
          <p:cNvPr id="22" name="Shape 15"/>
          <p:cNvSpPr/>
          <p:nvPr/>
        </p:nvSpPr>
        <p:spPr>
          <a:xfrm>
            <a:off x="7589520" y="1783080"/>
            <a:ext cx="3749040" cy="4206240"/>
          </a:xfrm>
          <a:prstGeom prst="roundRect">
            <a:avLst>
              <a:gd name="adj" fmla="val 1951"/>
            </a:avLst>
          </a:prstGeom>
          <a:solidFill>
            <a:srgbClr val="EAF1F7"/>
          </a:solidFill>
          <a:ln/>
        </p:spPr>
      </p:sp>
      <p:sp>
        <p:nvSpPr>
          <p:cNvPr id="23" name="Shape 16"/>
          <p:cNvSpPr/>
          <p:nvPr/>
        </p:nvSpPr>
        <p:spPr>
          <a:xfrm>
            <a:off x="7909560" y="2103120"/>
            <a:ext cx="548640" cy="548640"/>
          </a:xfrm>
          <a:prstGeom prst="ellipse">
            <a:avLst/>
          </a:prstGeom>
          <a:solidFill>
            <a:srgbClr val="12314F"/>
          </a:solidFill>
          <a:ln/>
        </p:spPr>
      </p:sp>
      <p:pic>
        <p:nvPicPr>
          <p:cNvPr id="24" name="Image 5" descr="/home/claude/churn_ppt/icons/database.png">    </p:cNvPr>
          <p:cNvPicPr>
            <a:picLocks noChangeAspect="1"/>
          </p:cNvPicPr>
          <p:nvPr/>
        </p:nvPicPr>
        <p:blipFill>
          <a:blip r:embed="rId6"/>
          <a:stretch>
            <a:fillRect/>
          </a:stretch>
        </p:blipFill>
        <p:spPr>
          <a:xfrm>
            <a:off x="8033004" y="2226564"/>
            <a:ext cx="301752" cy="301752"/>
          </a:xfrm>
          <a:prstGeom prst="rect">
            <a:avLst/>
          </a:prstGeom>
        </p:spPr>
      </p:pic>
      <p:sp>
        <p:nvSpPr>
          <p:cNvPr id="25" name="Text 17"/>
          <p:cNvSpPr/>
          <p:nvPr/>
        </p:nvSpPr>
        <p:spPr>
          <a:xfrm>
            <a:off x="7909560" y="2788920"/>
            <a:ext cx="3200400" cy="320040"/>
          </a:xfrm>
          <a:prstGeom prst="rect">
            <a:avLst/>
          </a:prstGeom>
          <a:noFill/>
          <a:ln/>
        </p:spPr>
        <p:txBody>
          <a:bodyPr wrap="square" rtlCol="0" anchor="ctr"/>
          <a:lstStyle/>
          <a:p>
            <a:pPr indent="0" marL="0">
              <a:buNone/>
            </a:pPr>
            <a:r>
              <a:rPr lang="en-US" sz="1300" b="1" dirty="0">
                <a:solidFill>
                  <a:srgbClr val="12314F"/>
                </a:solidFill>
                <a:latin typeface="Calibri" pitchFamily="34" charset="0"/>
                <a:ea typeface="Calibri" pitchFamily="34" charset="-122"/>
                <a:cs typeface="Calibri" pitchFamily="34" charset="-120"/>
              </a:rPr>
              <a:t>Dataset Sintetis</a:t>
            </a:r>
            <a:endParaRPr lang="en-US" sz="1300" dirty="0"/>
          </a:p>
        </p:txBody>
      </p:sp>
      <p:sp>
        <p:nvSpPr>
          <p:cNvPr id="26" name="Text 18"/>
          <p:cNvSpPr/>
          <p:nvPr/>
        </p:nvSpPr>
        <p:spPr>
          <a:xfrm>
            <a:off x="7909560" y="3246120"/>
            <a:ext cx="3200400" cy="457200"/>
          </a:xfrm>
          <a:prstGeom prst="rect">
            <a:avLst/>
          </a:prstGeom>
          <a:noFill/>
          <a:ln/>
        </p:spPr>
        <p:txBody>
          <a:bodyPr wrap="square" rtlCol="0" anchor="ctr"/>
          <a:lstStyle/>
          <a:p>
            <a:pPr indent="0" marL="0">
              <a:buNone/>
            </a:pPr>
            <a:r>
              <a:rPr lang="en-US" sz="2600" b="1" dirty="0">
                <a:solidFill>
                  <a:srgbClr val="E1562B"/>
                </a:solidFill>
                <a:latin typeface="Cambria" pitchFamily="34" charset="0"/>
                <a:ea typeface="Cambria" pitchFamily="34" charset="-122"/>
                <a:cs typeface="Cambria" pitchFamily="34" charset="-120"/>
              </a:rPr>
              <a:t>1.200</a:t>
            </a:r>
            <a:endParaRPr lang="en-US" sz="2600" dirty="0"/>
          </a:p>
        </p:txBody>
      </p:sp>
      <p:sp>
        <p:nvSpPr>
          <p:cNvPr id="27" name="Text 19"/>
          <p:cNvSpPr/>
          <p:nvPr/>
        </p:nvSpPr>
        <p:spPr>
          <a:xfrm>
            <a:off x="7909560" y="3703320"/>
            <a:ext cx="3200400" cy="274320"/>
          </a:xfrm>
          <a:prstGeom prst="rect">
            <a:avLst/>
          </a:prstGeom>
          <a:noFill/>
          <a:ln/>
        </p:spPr>
        <p:txBody>
          <a:bodyPr wrap="square" rtlCol="0" anchor="ctr"/>
          <a:lstStyle/>
          <a:p>
            <a:pPr indent="0" marL="0">
              <a:buNone/>
            </a:pPr>
            <a:r>
              <a:rPr lang="en-US" sz="1100" dirty="0">
                <a:solidFill>
                  <a:srgbClr val="5C7086"/>
                </a:solidFill>
                <a:latin typeface="Calibri" pitchFamily="34" charset="0"/>
                <a:ea typeface="Calibri" pitchFamily="34" charset="-122"/>
                <a:cs typeface="Calibri" pitchFamily="34" charset="-120"/>
              </a:rPr>
              <a:t>Pelanggan</a:t>
            </a:r>
            <a:endParaRPr lang="en-US" sz="1100" dirty="0"/>
          </a:p>
        </p:txBody>
      </p:sp>
      <p:sp>
        <p:nvSpPr>
          <p:cNvPr id="28" name="Text 20"/>
          <p:cNvSpPr/>
          <p:nvPr/>
        </p:nvSpPr>
        <p:spPr>
          <a:xfrm>
            <a:off x="7909560" y="4114800"/>
            <a:ext cx="3200400" cy="457200"/>
          </a:xfrm>
          <a:prstGeom prst="rect">
            <a:avLst/>
          </a:prstGeom>
          <a:noFill/>
          <a:ln/>
        </p:spPr>
        <p:txBody>
          <a:bodyPr wrap="square" rtlCol="0" anchor="ctr"/>
          <a:lstStyle/>
          <a:p>
            <a:pPr indent="0" marL="0">
              <a:buNone/>
            </a:pPr>
            <a:r>
              <a:rPr lang="en-US" sz="2600" b="1" dirty="0">
                <a:solidFill>
                  <a:srgbClr val="E1562B"/>
                </a:solidFill>
                <a:latin typeface="Cambria" pitchFamily="34" charset="0"/>
                <a:ea typeface="Cambria" pitchFamily="34" charset="-122"/>
                <a:cs typeface="Cambria" pitchFamily="34" charset="-120"/>
              </a:rPr>
              <a:t>11 + 1</a:t>
            </a:r>
            <a:endParaRPr lang="en-US" sz="2600" dirty="0"/>
          </a:p>
        </p:txBody>
      </p:sp>
      <p:sp>
        <p:nvSpPr>
          <p:cNvPr id="29" name="Text 21"/>
          <p:cNvSpPr/>
          <p:nvPr/>
        </p:nvSpPr>
        <p:spPr>
          <a:xfrm>
            <a:off x="7909560" y="4572000"/>
            <a:ext cx="3200400" cy="274320"/>
          </a:xfrm>
          <a:prstGeom prst="rect">
            <a:avLst/>
          </a:prstGeom>
          <a:noFill/>
          <a:ln/>
        </p:spPr>
        <p:txBody>
          <a:bodyPr wrap="square" rtlCol="0" anchor="ctr"/>
          <a:lstStyle/>
          <a:p>
            <a:pPr indent="0" marL="0">
              <a:buNone/>
            </a:pPr>
            <a:r>
              <a:rPr lang="en-US" sz="1100" dirty="0">
                <a:solidFill>
                  <a:srgbClr val="5C7086"/>
                </a:solidFill>
                <a:latin typeface="Calibri" pitchFamily="34" charset="0"/>
                <a:ea typeface="Calibri" pitchFamily="34" charset="-122"/>
                <a:cs typeface="Calibri" pitchFamily="34" charset="-120"/>
              </a:rPr>
              <a:t>Fitur &amp; Target</a:t>
            </a:r>
            <a:endParaRPr lang="en-US" sz="1100" dirty="0"/>
          </a:p>
        </p:txBody>
      </p:sp>
      <p:sp>
        <p:nvSpPr>
          <p:cNvPr id="30" name="Text 22"/>
          <p:cNvSpPr/>
          <p:nvPr/>
        </p:nvSpPr>
        <p:spPr>
          <a:xfrm>
            <a:off x="7909560" y="4983480"/>
            <a:ext cx="3200400" cy="457200"/>
          </a:xfrm>
          <a:prstGeom prst="rect">
            <a:avLst/>
          </a:prstGeom>
          <a:noFill/>
          <a:ln/>
        </p:spPr>
        <p:txBody>
          <a:bodyPr wrap="square" rtlCol="0" anchor="ctr"/>
          <a:lstStyle/>
          <a:p>
            <a:pPr indent="0" marL="0">
              <a:buNone/>
            </a:pPr>
            <a:r>
              <a:rPr lang="en-US" sz="2600" b="1" dirty="0">
                <a:solidFill>
                  <a:srgbClr val="E1562B"/>
                </a:solidFill>
                <a:latin typeface="Cambria" pitchFamily="34" charset="0"/>
                <a:ea typeface="Cambria" pitchFamily="34" charset="-122"/>
                <a:cs typeface="Cambria" pitchFamily="34" charset="-120"/>
              </a:rPr>
              <a:t>24,4%</a:t>
            </a:r>
            <a:endParaRPr lang="en-US" sz="2600" dirty="0"/>
          </a:p>
        </p:txBody>
      </p:sp>
      <p:sp>
        <p:nvSpPr>
          <p:cNvPr id="31" name="Text 23"/>
          <p:cNvSpPr/>
          <p:nvPr/>
        </p:nvSpPr>
        <p:spPr>
          <a:xfrm>
            <a:off x="7909560" y="5440680"/>
            <a:ext cx="3200400" cy="274320"/>
          </a:xfrm>
          <a:prstGeom prst="rect">
            <a:avLst/>
          </a:prstGeom>
          <a:noFill/>
          <a:ln/>
        </p:spPr>
        <p:txBody>
          <a:bodyPr wrap="square" rtlCol="0" anchor="ctr"/>
          <a:lstStyle/>
          <a:p>
            <a:pPr indent="0" marL="0">
              <a:buNone/>
            </a:pPr>
            <a:r>
              <a:rPr lang="en-US" sz="1100" dirty="0">
                <a:solidFill>
                  <a:srgbClr val="5C7086"/>
                </a:solidFill>
                <a:latin typeface="Calibri" pitchFamily="34" charset="0"/>
                <a:ea typeface="Calibri" pitchFamily="34" charset="-122"/>
                <a:cs typeface="Calibri" pitchFamily="34" charset="-120"/>
              </a:rPr>
              <a:t>Churn Rate</a:t>
            </a:r>
            <a:endParaRPr lang="en-US" sz="1100" dirty="0"/>
          </a:p>
        </p:txBody>
      </p:sp>
      <p:sp>
        <p:nvSpPr>
          <p:cNvPr id="32" name="Text 24"/>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33" name="Text 25"/>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5C708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14F"/>
        </a:solidFill>
      </p:bgPr>
    </p:bg>
    <p:spTree>
      <p:nvGrpSpPr>
        <p:cNvPr id="1" name=""/>
        <p:cNvGrpSpPr/>
        <p:nvPr/>
      </p:nvGrpSpPr>
      <p:grpSpPr>
        <a:xfrm>
          <a:off x="0" y="0"/>
          <a:ext cx="0" cy="0"/>
          <a:chOff x="0" y="0"/>
          <a:chExt cx="0" cy="0"/>
        </a:xfrm>
      </p:grpSpPr>
      <p:sp>
        <p:nvSpPr>
          <p:cNvPr id="2" name="Text 0"/>
          <p:cNvSpPr/>
          <p:nvPr/>
        </p:nvSpPr>
        <p:spPr>
          <a:xfrm>
            <a:off x="548640" y="457200"/>
            <a:ext cx="1097280" cy="1097280"/>
          </a:xfrm>
          <a:prstGeom prst="rect">
            <a:avLst/>
          </a:prstGeom>
          <a:noFill/>
          <a:ln/>
        </p:spPr>
        <p:txBody>
          <a:bodyPr wrap="square" rtlCol="0" anchor="ctr"/>
          <a:lstStyle/>
          <a:p>
            <a:pPr algn="l" indent="0" marL="0">
              <a:buNone/>
            </a:pPr>
            <a:r>
              <a:rPr lang="en-US" sz="5400" b="1" dirty="0">
                <a:solidFill>
                  <a:srgbClr val="1E4A73"/>
                </a:solidFill>
                <a:latin typeface="Cambria" pitchFamily="34" charset="0"/>
                <a:ea typeface="Cambria" pitchFamily="34" charset="-122"/>
                <a:cs typeface="Cambria" pitchFamily="34" charset="-120"/>
              </a:rPr>
              <a:t>C</a:t>
            </a:r>
            <a:endParaRPr lang="en-US" sz="5400" dirty="0"/>
          </a:p>
        </p:txBody>
      </p:sp>
      <p:sp>
        <p:nvSpPr>
          <p:cNvPr id="3" name="Text 1"/>
          <p:cNvSpPr/>
          <p:nvPr/>
        </p:nvSpPr>
        <p:spPr>
          <a:xfrm>
            <a:off x="822960" y="502920"/>
            <a:ext cx="3657600" cy="365760"/>
          </a:xfrm>
          <a:prstGeom prst="rect">
            <a:avLst/>
          </a:prstGeom>
          <a:noFill/>
          <a:ln/>
        </p:spPr>
        <p:txBody>
          <a:bodyPr wrap="square" rtlCol="0" anchor="ctr"/>
          <a:lstStyle/>
          <a:p>
            <a:pPr indent="0" marL="0">
              <a:buNone/>
            </a:pPr>
            <a:r>
              <a:rPr lang="en-US" sz="1300" b="1" spc="200" kern="0" dirty="0">
                <a:solidFill>
                  <a:srgbClr val="E1562B"/>
                </a:solidFill>
                <a:latin typeface="Calibri" pitchFamily="34" charset="0"/>
                <a:ea typeface="Calibri" pitchFamily="34" charset="-122"/>
                <a:cs typeface="Calibri" pitchFamily="34" charset="-120"/>
              </a:rPr>
              <a:t>COMPLICATION</a:t>
            </a:r>
            <a:endParaRPr lang="en-US" sz="1300" dirty="0"/>
          </a:p>
        </p:txBody>
      </p:sp>
      <p:sp>
        <p:nvSpPr>
          <p:cNvPr id="4" name="Text 2"/>
          <p:cNvSpPr/>
          <p:nvPr/>
        </p:nvSpPr>
        <p:spPr>
          <a:xfrm>
            <a:off x="822960" y="868680"/>
            <a:ext cx="10332720" cy="822960"/>
          </a:xfrm>
          <a:prstGeom prst="rect">
            <a:avLst/>
          </a:prstGeom>
          <a:noFill/>
          <a:ln/>
        </p:spPr>
        <p:txBody>
          <a:bodyPr wrap="square" rtlCol="0" anchor="ctr"/>
          <a:lstStyle/>
          <a:p>
            <a:pPr indent="0" marL="0">
              <a:lnSpc>
                <a:spcPts val="3200"/>
              </a:lnSpc>
              <a:buNone/>
            </a:pPr>
            <a:r>
              <a:rPr lang="en-US" sz="2800" b="1" dirty="0">
                <a:solidFill>
                  <a:srgbClr val="FFFFFF"/>
                </a:solidFill>
                <a:latin typeface="Cambria" pitchFamily="34" charset="0"/>
                <a:ea typeface="Cambria" pitchFamily="34" charset="-122"/>
                <a:cs typeface="Cambria" pitchFamily="34" charset="-120"/>
              </a:rPr>
              <a:t>Kerugian Akibat Customer Churn Meningkat</a:t>
            </a:r>
            <a:endParaRPr lang="en-US" sz="2800" dirty="0"/>
          </a:p>
        </p:txBody>
      </p:sp>
      <p:sp>
        <p:nvSpPr>
          <p:cNvPr id="5" name="Text 3"/>
          <p:cNvSpPr/>
          <p:nvPr/>
        </p:nvSpPr>
        <p:spPr>
          <a:xfrm>
            <a:off x="822960" y="1828800"/>
            <a:ext cx="6583680" cy="1188720"/>
          </a:xfrm>
          <a:prstGeom prst="rect">
            <a:avLst/>
          </a:prstGeom>
          <a:noFill/>
          <a:ln/>
        </p:spPr>
        <p:txBody>
          <a:bodyPr wrap="square" rtlCol="0" anchor="ctr"/>
          <a:lstStyle/>
          <a:p>
            <a:pPr indent="0" marL="0">
              <a:lnSpc>
                <a:spcPts val="2400"/>
              </a:lnSpc>
              <a:buNone/>
            </a:pPr>
            <a:r>
              <a:rPr lang="en-US" sz="1550" dirty="0">
                <a:solidFill>
                  <a:srgbClr val="C7D8E6"/>
                </a:solidFill>
                <a:latin typeface="Calibri" pitchFamily="34" charset="0"/>
                <a:ea typeface="Calibri" pitchFamily="34" charset="-122"/>
                <a:cs typeface="Calibri" pitchFamily="34" charset="-120"/>
              </a:rPr>
              <a:t>Perusahaan mengalami peningkatan kerugian akibat customer churn pada layanan Fixed Broadband. Tim retention perlu bertindak sebelum pelanggan benar-benar berhenti berlangganan — bukan sesudahnya.</a:t>
            </a:r>
            <a:endParaRPr lang="en-US" sz="1550" dirty="0"/>
          </a:p>
        </p:txBody>
      </p:sp>
      <p:sp>
        <p:nvSpPr>
          <p:cNvPr id="6" name="Shape 4"/>
          <p:cNvSpPr/>
          <p:nvPr/>
        </p:nvSpPr>
        <p:spPr>
          <a:xfrm>
            <a:off x="822960" y="3246120"/>
            <a:ext cx="640080" cy="640080"/>
          </a:xfrm>
          <a:prstGeom prst="ellipse">
            <a:avLst/>
          </a:prstGeom>
          <a:solidFill>
            <a:srgbClr val="E1562B"/>
          </a:solidFill>
          <a:ln/>
        </p:spPr>
      </p:sp>
      <p:pic>
        <p:nvPicPr>
          <p:cNvPr id="7" name="Image 0" descr="/home/claude/churn_ppt/icons/warning.png">    </p:cNvPr>
          <p:cNvPicPr>
            <a:picLocks noChangeAspect="1"/>
          </p:cNvPicPr>
          <p:nvPr/>
        </p:nvPicPr>
        <p:blipFill>
          <a:blip r:embed="rId1"/>
          <a:stretch>
            <a:fillRect/>
          </a:stretch>
        </p:blipFill>
        <p:spPr>
          <a:xfrm>
            <a:off x="982980" y="3406140"/>
            <a:ext cx="320040" cy="320040"/>
          </a:xfrm>
          <a:prstGeom prst="rect">
            <a:avLst/>
          </a:prstGeom>
        </p:spPr>
      </p:pic>
      <p:sp>
        <p:nvSpPr>
          <p:cNvPr id="8" name="Text 5"/>
          <p:cNvSpPr/>
          <p:nvPr/>
        </p:nvSpPr>
        <p:spPr>
          <a:xfrm>
            <a:off x="1645920" y="3200400"/>
            <a:ext cx="5669280" cy="1005840"/>
          </a:xfrm>
          <a:prstGeom prst="rect">
            <a:avLst/>
          </a:prstGeom>
          <a:noFill/>
          <a:ln/>
        </p:spPr>
        <p:txBody>
          <a:bodyPr wrap="square" rtlCol="0" anchor="ctr"/>
          <a:lstStyle/>
          <a:p>
            <a:pPr indent="0" marL="0">
              <a:lnSpc>
                <a:spcPts val="2000"/>
              </a:lnSpc>
              <a:buNone/>
            </a:pPr>
            <a:r>
              <a:rPr lang="en-US" sz="1400" b="1" dirty="0">
                <a:solidFill>
                  <a:srgbClr val="FFFFFF"/>
                </a:solidFill>
                <a:latin typeface="Calibri" pitchFamily="34" charset="0"/>
                <a:ea typeface="Calibri" pitchFamily="34" charset="-122"/>
                <a:cs typeface="Calibri" pitchFamily="34" charset="-120"/>
              </a:rPr>
              <a:t>Tim bisnis ingin mengetahui pelanggan yang berpotensi churn dalam 3 bulan ke depan, agar retention dapat mengambil tindakan proaktif.</a:t>
            </a:r>
            <a:endParaRPr lang="en-US" sz="1400" dirty="0"/>
          </a:p>
        </p:txBody>
      </p:sp>
      <p:sp>
        <p:nvSpPr>
          <p:cNvPr id="9" name="Shape 6"/>
          <p:cNvSpPr/>
          <p:nvPr/>
        </p:nvSpPr>
        <p:spPr>
          <a:xfrm>
            <a:off x="7772400" y="1828800"/>
            <a:ext cx="3931920" cy="4206240"/>
          </a:xfrm>
          <a:prstGeom prst="roundRect">
            <a:avLst>
              <a:gd name="adj" fmla="val 1860"/>
            </a:avLst>
          </a:prstGeom>
          <a:solidFill>
            <a:srgbClr val="1A3E60"/>
          </a:solidFill>
          <a:ln/>
        </p:spPr>
      </p:sp>
      <p:sp>
        <p:nvSpPr>
          <p:cNvPr id="10" name="Shape 7"/>
          <p:cNvSpPr/>
          <p:nvPr/>
        </p:nvSpPr>
        <p:spPr>
          <a:xfrm>
            <a:off x="8092440" y="2148840"/>
            <a:ext cx="502920" cy="502920"/>
          </a:xfrm>
          <a:prstGeom prst="ellipse">
            <a:avLst/>
          </a:prstGeom>
          <a:solidFill>
            <a:srgbClr val="E1562B"/>
          </a:solidFill>
          <a:ln/>
        </p:spPr>
      </p:sp>
      <p:pic>
        <p:nvPicPr>
          <p:cNvPr id="11" name="Image 1" descr="/home/claude/churn_ppt/icons/times.png">    </p:cNvPr>
          <p:cNvPicPr>
            <a:picLocks noChangeAspect="1"/>
          </p:cNvPicPr>
          <p:nvPr/>
        </p:nvPicPr>
        <p:blipFill>
          <a:blip r:embed="rId2"/>
          <a:stretch>
            <a:fillRect/>
          </a:stretch>
        </p:blipFill>
        <p:spPr>
          <a:xfrm>
            <a:off x="8205597" y="2261997"/>
            <a:ext cx="276606" cy="276606"/>
          </a:xfrm>
          <a:prstGeom prst="rect">
            <a:avLst/>
          </a:prstGeom>
        </p:spPr>
      </p:pic>
      <p:sp>
        <p:nvSpPr>
          <p:cNvPr id="12" name="Text 8"/>
          <p:cNvSpPr/>
          <p:nvPr/>
        </p:nvSpPr>
        <p:spPr>
          <a:xfrm>
            <a:off x="8092440" y="2788920"/>
            <a:ext cx="32918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Tanpa Prediksi</a:t>
            </a:r>
            <a:endParaRPr lang="en-US" sz="1500" dirty="0"/>
          </a:p>
        </p:txBody>
      </p:sp>
      <p:sp>
        <p:nvSpPr>
          <p:cNvPr id="13" name="Text 9"/>
          <p:cNvSpPr/>
          <p:nvPr/>
        </p:nvSpPr>
        <p:spPr>
          <a:xfrm>
            <a:off x="8092440" y="3200400"/>
            <a:ext cx="3291840" cy="1280160"/>
          </a:xfrm>
          <a:prstGeom prst="rect">
            <a:avLst/>
          </a:prstGeom>
          <a:noFill/>
          <a:ln/>
        </p:spPr>
        <p:txBody>
          <a:bodyPr wrap="square" rtlCol="0" anchor="ctr"/>
          <a:lstStyle/>
          <a:p>
            <a:pPr indent="0" marL="0">
              <a:lnSpc>
                <a:spcPts val="1800"/>
              </a:lnSpc>
              <a:buNone/>
            </a:pPr>
            <a:r>
              <a:rPr lang="en-US" sz="1250" dirty="0">
                <a:solidFill>
                  <a:srgbClr val="C7D8E6"/>
                </a:solidFill>
                <a:latin typeface="Calibri" pitchFamily="34" charset="0"/>
                <a:ea typeface="Calibri" pitchFamily="34" charset="-122"/>
                <a:cs typeface="Calibri" pitchFamily="34" charset="-120"/>
              </a:rPr>
              <a:t>Tim retention baru bertindak setelah pelanggan mengajukan berhenti berlangganan — sudah terlambat untuk mempertahankan.</a:t>
            </a:r>
            <a:endParaRPr lang="en-US" sz="1250" dirty="0"/>
          </a:p>
        </p:txBody>
      </p:sp>
      <p:sp>
        <p:nvSpPr>
          <p:cNvPr id="14" name="Shape 10"/>
          <p:cNvSpPr/>
          <p:nvPr/>
        </p:nvSpPr>
        <p:spPr>
          <a:xfrm>
            <a:off x="8001000" y="4709160"/>
            <a:ext cx="3474720" cy="0"/>
          </a:xfrm>
          <a:prstGeom prst="line">
            <a:avLst/>
          </a:prstGeom>
          <a:noFill/>
          <a:ln w="12700">
            <a:solidFill>
              <a:srgbClr val="3A5C7D"/>
            </a:solidFill>
            <a:prstDash val="solid"/>
          </a:ln>
        </p:spPr>
      </p:sp>
      <p:sp>
        <p:nvSpPr>
          <p:cNvPr id="15" name="Shape 11"/>
          <p:cNvSpPr/>
          <p:nvPr/>
        </p:nvSpPr>
        <p:spPr>
          <a:xfrm>
            <a:off x="8092440" y="4892040"/>
            <a:ext cx="502920" cy="502920"/>
          </a:xfrm>
          <a:prstGeom prst="ellipse">
            <a:avLst/>
          </a:prstGeom>
          <a:solidFill>
            <a:srgbClr val="1C7A4E"/>
          </a:solidFill>
          <a:ln/>
        </p:spPr>
      </p:sp>
      <p:pic>
        <p:nvPicPr>
          <p:cNvPr id="16" name="Image 2" descr="/home/claude/churn_ppt/icons/check.png">    </p:cNvPr>
          <p:cNvPicPr>
            <a:picLocks noChangeAspect="1"/>
          </p:cNvPicPr>
          <p:nvPr/>
        </p:nvPicPr>
        <p:blipFill>
          <a:blip r:embed="rId3"/>
          <a:stretch>
            <a:fillRect/>
          </a:stretch>
        </p:blipFill>
        <p:spPr>
          <a:xfrm>
            <a:off x="8205597" y="5005197"/>
            <a:ext cx="276606" cy="276606"/>
          </a:xfrm>
          <a:prstGeom prst="rect">
            <a:avLst/>
          </a:prstGeom>
        </p:spPr>
      </p:pic>
      <p:sp>
        <p:nvSpPr>
          <p:cNvPr id="17" name="Text 12"/>
          <p:cNvSpPr/>
          <p:nvPr/>
        </p:nvSpPr>
        <p:spPr>
          <a:xfrm>
            <a:off x="8092440" y="5532120"/>
            <a:ext cx="32918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Dengan Prediksi</a:t>
            </a:r>
            <a:endParaRPr lang="en-US" sz="1500" dirty="0"/>
          </a:p>
        </p:txBody>
      </p:sp>
      <p:sp>
        <p:nvSpPr>
          <p:cNvPr id="18" name="Text 13"/>
          <p:cNvSpPr/>
          <p:nvPr/>
        </p:nvSpPr>
        <p:spPr>
          <a:xfrm>
            <a:off x="8092440" y="5943600"/>
            <a:ext cx="3291840" cy="1280160"/>
          </a:xfrm>
          <a:prstGeom prst="rect">
            <a:avLst/>
          </a:prstGeom>
          <a:noFill/>
          <a:ln/>
        </p:spPr>
        <p:txBody>
          <a:bodyPr wrap="square" rtlCol="0" anchor="ctr"/>
          <a:lstStyle/>
          <a:p>
            <a:pPr indent="0" marL="0">
              <a:lnSpc>
                <a:spcPts val="1800"/>
              </a:lnSpc>
              <a:buNone/>
            </a:pPr>
            <a:r>
              <a:rPr lang="en-US" sz="1250" dirty="0">
                <a:solidFill>
                  <a:srgbClr val="C7D8E6"/>
                </a:solidFill>
                <a:latin typeface="Calibri" pitchFamily="34" charset="0"/>
                <a:ea typeface="Calibri" pitchFamily="34" charset="-122"/>
                <a:cs typeface="Calibri" pitchFamily="34" charset="-120"/>
              </a:rPr>
              <a:t>Model memberi peringatan dini 3 bulan sebelumnya, sehingga tim retention dapat menawarkan intervensi tepat sasaran sebelum pelanggan benar-benar berhenti.</a:t>
            </a:r>
            <a:endParaRPr lang="en-US" sz="1250" dirty="0"/>
          </a:p>
        </p:txBody>
      </p:sp>
      <p:sp>
        <p:nvSpPr>
          <p:cNvPr id="19" name="Text 14"/>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8FA7BE"/>
                </a:solidFill>
                <a:latin typeface="Calibri" pitchFamily="34" charset="0"/>
                <a:ea typeface="Calibri" pitchFamily="34" charset="-122"/>
                <a:cs typeface="Calibri" pitchFamily="34" charset="-120"/>
              </a:rPr>
              <a:t>PT ABC — Customer Churn Prediction</a:t>
            </a:r>
            <a:endParaRPr lang="en-US" sz="900" dirty="0"/>
          </a:p>
        </p:txBody>
      </p:sp>
      <p:sp>
        <p:nvSpPr>
          <p:cNvPr id="20" name="Text 15"/>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8FA7B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 cy="1097280"/>
          </a:xfrm>
          <a:prstGeom prst="rect">
            <a:avLst/>
          </a:prstGeom>
          <a:noFill/>
          <a:ln/>
        </p:spPr>
        <p:txBody>
          <a:bodyPr wrap="square" rtlCol="0" anchor="ctr"/>
          <a:lstStyle/>
          <a:p>
            <a:pPr indent="0" marL="0">
              <a:buNone/>
            </a:pPr>
            <a:r>
              <a:rPr lang="en-US" sz="5400" b="1" dirty="0">
                <a:solidFill>
                  <a:srgbClr val="EAF1F7"/>
                </a:solidFill>
                <a:latin typeface="Cambria" pitchFamily="34" charset="0"/>
                <a:ea typeface="Cambria" pitchFamily="34" charset="-122"/>
                <a:cs typeface="Cambria" pitchFamily="34" charset="-120"/>
              </a:rPr>
              <a:t>Q</a:t>
            </a:r>
            <a:endParaRPr lang="en-US" sz="5400" dirty="0"/>
          </a:p>
        </p:txBody>
      </p:sp>
      <p:sp>
        <p:nvSpPr>
          <p:cNvPr id="3" name="Text 1"/>
          <p:cNvSpPr/>
          <p:nvPr/>
        </p:nvSpPr>
        <p:spPr>
          <a:xfrm>
            <a:off x="822960" y="502920"/>
            <a:ext cx="3657600" cy="365760"/>
          </a:xfrm>
          <a:prstGeom prst="rect">
            <a:avLst/>
          </a:prstGeom>
          <a:noFill/>
          <a:ln/>
        </p:spPr>
        <p:txBody>
          <a:bodyPr wrap="square" rtlCol="0" anchor="ctr"/>
          <a:lstStyle/>
          <a:p>
            <a:pPr indent="0" marL="0">
              <a:buNone/>
            </a:pPr>
            <a:r>
              <a:rPr lang="en-US" sz="1300" b="1" spc="200" kern="0" dirty="0">
                <a:solidFill>
                  <a:srgbClr val="E1562B"/>
                </a:solidFill>
                <a:latin typeface="Calibri" pitchFamily="34" charset="0"/>
                <a:ea typeface="Calibri" pitchFamily="34" charset="-122"/>
                <a:cs typeface="Calibri" pitchFamily="34" charset="-120"/>
              </a:rPr>
              <a:t>QUESTION</a:t>
            </a:r>
            <a:endParaRPr lang="en-US" sz="1300" dirty="0"/>
          </a:p>
        </p:txBody>
      </p:sp>
      <p:sp>
        <p:nvSpPr>
          <p:cNvPr id="4" name="Text 2"/>
          <p:cNvSpPr/>
          <p:nvPr/>
        </p:nvSpPr>
        <p:spPr>
          <a:xfrm>
            <a:off x="822960" y="1463040"/>
            <a:ext cx="10332720" cy="1463040"/>
          </a:xfrm>
          <a:prstGeom prst="rect">
            <a:avLst/>
          </a:prstGeom>
          <a:noFill/>
          <a:ln/>
        </p:spPr>
        <p:txBody>
          <a:bodyPr wrap="square" rtlCol="0" anchor="ctr"/>
          <a:lstStyle/>
          <a:p>
            <a:pPr algn="l" indent="0" marL="0">
              <a:lnSpc>
                <a:spcPts val="3600"/>
              </a:lnSpc>
              <a:buNone/>
            </a:pPr>
            <a:r>
              <a:rPr lang="en-US" sz="3000" b="1" dirty="0">
                <a:solidFill>
                  <a:srgbClr val="12314F"/>
                </a:solidFill>
                <a:latin typeface="Cambria" pitchFamily="34" charset="0"/>
                <a:ea typeface="Cambria" pitchFamily="34" charset="-122"/>
                <a:cs typeface="Cambria" pitchFamily="34" charset="-120"/>
              </a:rPr>
              <a:t>Bagaimana Cara Mengidentifikasi Pelanggan Berisiko Churn Sedini Mungkin?</a:t>
            </a:r>
            <a:endParaRPr lang="en-US" sz="3000" dirty="0"/>
          </a:p>
        </p:txBody>
      </p:sp>
      <p:sp>
        <p:nvSpPr>
          <p:cNvPr id="5" name="Shape 3"/>
          <p:cNvSpPr/>
          <p:nvPr/>
        </p:nvSpPr>
        <p:spPr>
          <a:xfrm>
            <a:off x="822960" y="3017520"/>
            <a:ext cx="3200400" cy="0"/>
          </a:xfrm>
          <a:prstGeom prst="line">
            <a:avLst/>
          </a:prstGeom>
          <a:noFill/>
          <a:ln w="38100">
            <a:solidFill>
              <a:srgbClr val="E1562B"/>
            </a:solidFill>
            <a:prstDash val="solid"/>
          </a:ln>
        </p:spPr>
      </p:sp>
      <p:sp>
        <p:nvSpPr>
          <p:cNvPr id="6" name="Shape 4"/>
          <p:cNvSpPr/>
          <p:nvPr/>
        </p:nvSpPr>
        <p:spPr>
          <a:xfrm>
            <a:off x="822960" y="3383280"/>
            <a:ext cx="3383280" cy="2651760"/>
          </a:xfrm>
          <a:prstGeom prst="roundRect">
            <a:avLst>
              <a:gd name="adj" fmla="val 2759"/>
            </a:avLst>
          </a:prstGeom>
          <a:solidFill>
            <a:srgbClr val="EAF1F7"/>
          </a:solidFill>
          <a:ln/>
        </p:spPr>
      </p:sp>
      <p:sp>
        <p:nvSpPr>
          <p:cNvPr id="7" name="Shape 5"/>
          <p:cNvSpPr/>
          <p:nvPr/>
        </p:nvSpPr>
        <p:spPr>
          <a:xfrm>
            <a:off x="1143000" y="3703320"/>
            <a:ext cx="640080" cy="640080"/>
          </a:xfrm>
          <a:prstGeom prst="ellipse">
            <a:avLst/>
          </a:prstGeom>
          <a:solidFill>
            <a:srgbClr val="12314F"/>
          </a:solidFill>
          <a:ln/>
        </p:spPr>
      </p:sp>
      <p:pic>
        <p:nvPicPr>
          <p:cNvPr id="8" name="Image 0" descr="/home/claude/churn_ppt/icons/target.png">    </p:cNvPr>
          <p:cNvPicPr>
            <a:picLocks noChangeAspect="1"/>
          </p:cNvPicPr>
          <p:nvPr/>
        </p:nvPicPr>
        <p:blipFill>
          <a:blip r:embed="rId1"/>
          <a:stretch>
            <a:fillRect/>
          </a:stretch>
        </p:blipFill>
        <p:spPr>
          <a:xfrm>
            <a:off x="1303020" y="3863340"/>
            <a:ext cx="320040" cy="320040"/>
          </a:xfrm>
          <a:prstGeom prst="rect">
            <a:avLst/>
          </a:prstGeom>
        </p:spPr>
      </p:pic>
      <p:sp>
        <p:nvSpPr>
          <p:cNvPr id="9" name="Text 6"/>
          <p:cNvSpPr/>
          <p:nvPr/>
        </p:nvSpPr>
        <p:spPr>
          <a:xfrm>
            <a:off x="1097280" y="4526280"/>
            <a:ext cx="2834640" cy="1371600"/>
          </a:xfrm>
          <a:prstGeom prst="rect">
            <a:avLst/>
          </a:prstGeom>
          <a:noFill/>
          <a:ln/>
        </p:spPr>
        <p:txBody>
          <a:bodyPr wrap="square" rtlCol="0" anchor="ctr"/>
          <a:lstStyle/>
          <a:p>
            <a:pPr indent="0" marL="0">
              <a:lnSpc>
                <a:spcPts val="1900"/>
              </a:lnSpc>
              <a:buNone/>
            </a:pPr>
            <a:r>
              <a:rPr lang="en-US" sz="1350" b="1" dirty="0">
                <a:solidFill>
                  <a:srgbClr val="1B2B3A"/>
                </a:solidFill>
                <a:latin typeface="Calibri" pitchFamily="34" charset="0"/>
                <a:ea typeface="Calibri" pitchFamily="34" charset="-122"/>
                <a:cs typeface="Calibri" pitchFamily="34" charset="-120"/>
              </a:rPr>
              <a:t>Fitur pelanggan mana yang paling memengaruhi keputusan churn?</a:t>
            </a:r>
            <a:endParaRPr lang="en-US" sz="1350" dirty="0"/>
          </a:p>
        </p:txBody>
      </p:sp>
      <p:sp>
        <p:nvSpPr>
          <p:cNvPr id="10" name="Shape 7"/>
          <p:cNvSpPr/>
          <p:nvPr/>
        </p:nvSpPr>
        <p:spPr>
          <a:xfrm>
            <a:off x="4526280" y="3383280"/>
            <a:ext cx="3383280" cy="2651760"/>
          </a:xfrm>
          <a:prstGeom prst="roundRect">
            <a:avLst>
              <a:gd name="adj" fmla="val 2759"/>
            </a:avLst>
          </a:prstGeom>
          <a:solidFill>
            <a:srgbClr val="EAF1F7"/>
          </a:solidFill>
          <a:ln/>
        </p:spPr>
      </p:sp>
      <p:sp>
        <p:nvSpPr>
          <p:cNvPr id="11" name="Shape 8"/>
          <p:cNvSpPr/>
          <p:nvPr/>
        </p:nvSpPr>
        <p:spPr>
          <a:xfrm>
            <a:off x="4846320" y="3703320"/>
            <a:ext cx="640080" cy="640080"/>
          </a:xfrm>
          <a:prstGeom prst="ellipse">
            <a:avLst/>
          </a:prstGeom>
          <a:solidFill>
            <a:srgbClr val="12314F"/>
          </a:solidFill>
          <a:ln/>
        </p:spPr>
      </p:sp>
      <p:pic>
        <p:nvPicPr>
          <p:cNvPr id="12" name="Image 1" descr="/home/claude/churn_ppt/icons/brain.png">    </p:cNvPr>
          <p:cNvPicPr>
            <a:picLocks noChangeAspect="1"/>
          </p:cNvPicPr>
          <p:nvPr/>
        </p:nvPicPr>
        <p:blipFill>
          <a:blip r:embed="rId2"/>
          <a:stretch>
            <a:fillRect/>
          </a:stretch>
        </p:blipFill>
        <p:spPr>
          <a:xfrm>
            <a:off x="5006340" y="3863340"/>
            <a:ext cx="320040" cy="320040"/>
          </a:xfrm>
          <a:prstGeom prst="rect">
            <a:avLst/>
          </a:prstGeom>
        </p:spPr>
      </p:pic>
      <p:sp>
        <p:nvSpPr>
          <p:cNvPr id="13" name="Text 9"/>
          <p:cNvSpPr/>
          <p:nvPr/>
        </p:nvSpPr>
        <p:spPr>
          <a:xfrm>
            <a:off x="4800600" y="4526280"/>
            <a:ext cx="2834640" cy="1371600"/>
          </a:xfrm>
          <a:prstGeom prst="rect">
            <a:avLst/>
          </a:prstGeom>
          <a:noFill/>
          <a:ln/>
        </p:spPr>
        <p:txBody>
          <a:bodyPr wrap="square" rtlCol="0" anchor="ctr"/>
          <a:lstStyle/>
          <a:p>
            <a:pPr indent="0" marL="0">
              <a:lnSpc>
                <a:spcPts val="1900"/>
              </a:lnSpc>
              <a:buNone/>
            </a:pPr>
            <a:r>
              <a:rPr lang="en-US" sz="1350" b="1" dirty="0">
                <a:solidFill>
                  <a:srgbClr val="1B2B3A"/>
                </a:solidFill>
                <a:latin typeface="Calibri" pitchFamily="34" charset="0"/>
                <a:ea typeface="Calibri" pitchFamily="34" charset="-122"/>
                <a:cs typeface="Calibri" pitchFamily="34" charset="-120"/>
              </a:rPr>
              <a:t>Model apa yang dapat memprediksi churn secara akurat &amp; andal?</a:t>
            </a:r>
            <a:endParaRPr lang="en-US" sz="1350" dirty="0"/>
          </a:p>
        </p:txBody>
      </p:sp>
      <p:sp>
        <p:nvSpPr>
          <p:cNvPr id="14" name="Shape 10"/>
          <p:cNvSpPr/>
          <p:nvPr/>
        </p:nvSpPr>
        <p:spPr>
          <a:xfrm>
            <a:off x="8229600" y="3383280"/>
            <a:ext cx="3383280" cy="2651760"/>
          </a:xfrm>
          <a:prstGeom prst="roundRect">
            <a:avLst>
              <a:gd name="adj" fmla="val 2759"/>
            </a:avLst>
          </a:prstGeom>
          <a:solidFill>
            <a:srgbClr val="EAF1F7"/>
          </a:solidFill>
          <a:ln/>
        </p:spPr>
      </p:sp>
      <p:sp>
        <p:nvSpPr>
          <p:cNvPr id="15" name="Shape 11"/>
          <p:cNvSpPr/>
          <p:nvPr/>
        </p:nvSpPr>
        <p:spPr>
          <a:xfrm>
            <a:off x="8549640" y="3703320"/>
            <a:ext cx="640080" cy="640080"/>
          </a:xfrm>
          <a:prstGeom prst="ellipse">
            <a:avLst/>
          </a:prstGeom>
          <a:solidFill>
            <a:srgbClr val="12314F"/>
          </a:solidFill>
          <a:ln/>
        </p:spPr>
      </p:sp>
      <p:pic>
        <p:nvPicPr>
          <p:cNvPr id="16" name="Image 2" descr="/home/claude/churn_ppt/icons/bulb.png">    </p:cNvPr>
          <p:cNvPicPr>
            <a:picLocks noChangeAspect="1"/>
          </p:cNvPicPr>
          <p:nvPr/>
        </p:nvPicPr>
        <p:blipFill>
          <a:blip r:embed="rId3"/>
          <a:stretch>
            <a:fillRect/>
          </a:stretch>
        </p:blipFill>
        <p:spPr>
          <a:xfrm>
            <a:off x="8709660" y="3863340"/>
            <a:ext cx="320040" cy="320040"/>
          </a:xfrm>
          <a:prstGeom prst="rect">
            <a:avLst/>
          </a:prstGeom>
        </p:spPr>
      </p:pic>
      <p:sp>
        <p:nvSpPr>
          <p:cNvPr id="17" name="Text 12"/>
          <p:cNvSpPr/>
          <p:nvPr/>
        </p:nvSpPr>
        <p:spPr>
          <a:xfrm>
            <a:off x="8503920" y="4526280"/>
            <a:ext cx="2834640" cy="1371600"/>
          </a:xfrm>
          <a:prstGeom prst="rect">
            <a:avLst/>
          </a:prstGeom>
          <a:noFill/>
          <a:ln/>
        </p:spPr>
        <p:txBody>
          <a:bodyPr wrap="square" rtlCol="0" anchor="ctr"/>
          <a:lstStyle/>
          <a:p>
            <a:pPr indent="0" marL="0">
              <a:lnSpc>
                <a:spcPts val="1900"/>
              </a:lnSpc>
              <a:buNone/>
            </a:pPr>
            <a:r>
              <a:rPr lang="en-US" sz="1350" b="1" dirty="0">
                <a:solidFill>
                  <a:srgbClr val="1B2B3A"/>
                </a:solidFill>
                <a:latin typeface="Calibri" pitchFamily="34" charset="0"/>
                <a:ea typeface="Calibri" pitchFamily="34" charset="-122"/>
                <a:cs typeface="Calibri" pitchFamily="34" charset="-120"/>
              </a:rPr>
              <a:t>Tindakan bisnis apa yang bisa diambil dari hasil prediksi?</a:t>
            </a:r>
            <a:endParaRPr lang="en-US" sz="1350" dirty="0"/>
          </a:p>
        </p:txBody>
      </p:sp>
      <p:sp>
        <p:nvSpPr>
          <p:cNvPr id="18" name="Text 13"/>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19" name="Text 14"/>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5C708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14F"/>
        </a:solidFill>
      </p:bgPr>
    </p:bg>
    <p:spTree>
      <p:nvGrpSpPr>
        <p:cNvPr id="1" name=""/>
        <p:cNvGrpSpPr/>
        <p:nvPr/>
      </p:nvGrpSpPr>
      <p:grpSpPr>
        <a:xfrm>
          <a:off x="0" y="0"/>
          <a:ext cx="0" cy="0"/>
          <a:chOff x="0" y="0"/>
          <a:chExt cx="0" cy="0"/>
        </a:xfrm>
      </p:grpSpPr>
      <p:sp>
        <p:nvSpPr>
          <p:cNvPr id="2" name="Text 0"/>
          <p:cNvSpPr/>
          <p:nvPr/>
        </p:nvSpPr>
        <p:spPr>
          <a:xfrm>
            <a:off x="548640" y="457200"/>
            <a:ext cx="1097280" cy="1097280"/>
          </a:xfrm>
          <a:prstGeom prst="rect">
            <a:avLst/>
          </a:prstGeom>
          <a:noFill/>
          <a:ln/>
        </p:spPr>
        <p:txBody>
          <a:bodyPr wrap="square" rtlCol="0" anchor="ctr"/>
          <a:lstStyle/>
          <a:p>
            <a:pPr indent="0" marL="0">
              <a:buNone/>
            </a:pPr>
            <a:r>
              <a:rPr lang="en-US" sz="5400" b="1" dirty="0">
                <a:solidFill>
                  <a:srgbClr val="1E4A73"/>
                </a:solidFill>
                <a:latin typeface="Cambria" pitchFamily="34" charset="0"/>
                <a:ea typeface="Cambria" pitchFamily="34" charset="-122"/>
                <a:cs typeface="Cambria" pitchFamily="34" charset="-120"/>
              </a:rPr>
              <a:t>A</a:t>
            </a:r>
            <a:endParaRPr lang="en-US" sz="5400" dirty="0"/>
          </a:p>
        </p:txBody>
      </p:sp>
      <p:sp>
        <p:nvSpPr>
          <p:cNvPr id="3" name="Text 1"/>
          <p:cNvSpPr/>
          <p:nvPr/>
        </p:nvSpPr>
        <p:spPr>
          <a:xfrm>
            <a:off x="822960" y="502920"/>
            <a:ext cx="3657600" cy="365760"/>
          </a:xfrm>
          <a:prstGeom prst="rect">
            <a:avLst/>
          </a:prstGeom>
          <a:noFill/>
          <a:ln/>
        </p:spPr>
        <p:txBody>
          <a:bodyPr wrap="square" rtlCol="0" anchor="ctr"/>
          <a:lstStyle/>
          <a:p>
            <a:pPr indent="0" marL="0">
              <a:buNone/>
            </a:pPr>
            <a:r>
              <a:rPr lang="en-US" sz="1300" b="1" spc="200" kern="0" dirty="0">
                <a:solidFill>
                  <a:srgbClr val="E1562B"/>
                </a:solidFill>
                <a:latin typeface="Calibri" pitchFamily="34" charset="0"/>
                <a:ea typeface="Calibri" pitchFamily="34" charset="-122"/>
                <a:cs typeface="Calibri" pitchFamily="34" charset="-120"/>
              </a:rPr>
              <a:t>ANSWER</a:t>
            </a:r>
            <a:endParaRPr lang="en-US" sz="1300" dirty="0"/>
          </a:p>
        </p:txBody>
      </p:sp>
      <p:sp>
        <p:nvSpPr>
          <p:cNvPr id="4" name="Text 2"/>
          <p:cNvSpPr/>
          <p:nvPr/>
        </p:nvSpPr>
        <p:spPr>
          <a:xfrm>
            <a:off x="822960" y="868680"/>
            <a:ext cx="10332720" cy="731520"/>
          </a:xfrm>
          <a:prstGeom prst="rect">
            <a:avLst/>
          </a:prstGeom>
          <a:noFill/>
          <a:ln/>
        </p:spPr>
        <p:txBody>
          <a:bodyPr wrap="square" rtlCol="0" anchor="ctr"/>
          <a:lstStyle/>
          <a:p>
            <a:pPr indent="0" marL="0">
              <a:lnSpc>
                <a:spcPts val="3200"/>
              </a:lnSpc>
              <a:buNone/>
            </a:pPr>
            <a:r>
              <a:rPr lang="en-US" sz="2700" b="1" dirty="0">
                <a:solidFill>
                  <a:srgbClr val="FFFFFF"/>
                </a:solidFill>
                <a:latin typeface="Cambria" pitchFamily="34" charset="0"/>
                <a:ea typeface="Cambria" pitchFamily="34" charset="-122"/>
                <a:cs typeface="Cambria" pitchFamily="34" charset="-120"/>
              </a:rPr>
              <a:t>Model Klasifikasi XGBoost untuk Prediksi Churn Proaktif</a:t>
            </a:r>
            <a:endParaRPr lang="en-US" sz="2700" dirty="0"/>
          </a:p>
        </p:txBody>
      </p:sp>
      <p:sp>
        <p:nvSpPr>
          <p:cNvPr id="5" name="Text 3"/>
          <p:cNvSpPr/>
          <p:nvPr/>
        </p:nvSpPr>
        <p:spPr>
          <a:xfrm>
            <a:off x="822960" y="1691640"/>
            <a:ext cx="9601200" cy="640080"/>
          </a:xfrm>
          <a:prstGeom prst="rect">
            <a:avLst/>
          </a:prstGeom>
          <a:noFill/>
          <a:ln/>
        </p:spPr>
        <p:txBody>
          <a:bodyPr wrap="square" rtlCol="0" anchor="ctr"/>
          <a:lstStyle/>
          <a:p>
            <a:pPr indent="0" marL="0">
              <a:lnSpc>
                <a:spcPts val="2000"/>
              </a:lnSpc>
              <a:buNone/>
            </a:pPr>
            <a:r>
              <a:rPr lang="en-US" sz="1400" dirty="0">
                <a:solidFill>
                  <a:srgbClr val="C7D8E6"/>
                </a:solidFill>
                <a:latin typeface="Calibri" pitchFamily="34" charset="0"/>
                <a:ea typeface="Calibri" pitchFamily="34" charset="-122"/>
                <a:cs typeface="Calibri" pitchFamily="34" charset="-120"/>
              </a:rPr>
              <a:t>Alur analisis dibangun end-to-end: dari eksplorasi data, rekayasa fitur, hingga pemodelan XGBoost yang dituning agar mampu mengenali pola pelanggan berisiko churn secara proaktif.</a:t>
            </a:r>
            <a:endParaRPr lang="en-US" sz="1400" dirty="0"/>
          </a:p>
        </p:txBody>
      </p:sp>
      <p:sp>
        <p:nvSpPr>
          <p:cNvPr id="6" name="Shape 4"/>
          <p:cNvSpPr/>
          <p:nvPr/>
        </p:nvSpPr>
        <p:spPr>
          <a:xfrm>
            <a:off x="822960" y="2743200"/>
            <a:ext cx="2084832" cy="2651760"/>
          </a:xfrm>
          <a:prstGeom prst="roundRect">
            <a:avLst>
              <a:gd name="adj" fmla="val 3509"/>
            </a:avLst>
          </a:prstGeom>
          <a:solidFill>
            <a:srgbClr val="1A3E60"/>
          </a:solidFill>
          <a:ln/>
        </p:spPr>
      </p:sp>
      <p:sp>
        <p:nvSpPr>
          <p:cNvPr id="7" name="Shape 5"/>
          <p:cNvSpPr/>
          <p:nvPr/>
        </p:nvSpPr>
        <p:spPr>
          <a:xfrm>
            <a:off x="1568196" y="3017520"/>
            <a:ext cx="594360" cy="594360"/>
          </a:xfrm>
          <a:prstGeom prst="ellipse">
            <a:avLst/>
          </a:prstGeom>
          <a:solidFill>
            <a:srgbClr val="E1562B"/>
          </a:solidFill>
          <a:ln/>
        </p:spPr>
      </p:sp>
      <p:pic>
        <p:nvPicPr>
          <p:cNvPr id="8" name="Image 0" descr="/home/claude/churn_ppt/icons/database.png">    </p:cNvPr>
          <p:cNvPicPr>
            <a:picLocks noChangeAspect="1"/>
          </p:cNvPicPr>
          <p:nvPr/>
        </p:nvPicPr>
        <p:blipFill>
          <a:blip r:embed="rId1"/>
          <a:stretch>
            <a:fillRect/>
          </a:stretch>
        </p:blipFill>
        <p:spPr>
          <a:xfrm>
            <a:off x="1716786" y="3166110"/>
            <a:ext cx="297180" cy="297180"/>
          </a:xfrm>
          <a:prstGeom prst="rect">
            <a:avLst/>
          </a:prstGeom>
        </p:spPr>
      </p:pic>
      <p:sp>
        <p:nvSpPr>
          <p:cNvPr id="9" name="Text 6"/>
          <p:cNvSpPr/>
          <p:nvPr/>
        </p:nvSpPr>
        <p:spPr>
          <a:xfrm>
            <a:off x="932688" y="3886200"/>
            <a:ext cx="1865376" cy="45720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Dataset</a:t>
            </a:r>
            <a:endParaRPr lang="en-US" sz="1350" dirty="0"/>
          </a:p>
        </p:txBody>
      </p:sp>
      <p:sp>
        <p:nvSpPr>
          <p:cNvPr id="10" name="Text 7"/>
          <p:cNvSpPr/>
          <p:nvPr/>
        </p:nvSpPr>
        <p:spPr>
          <a:xfrm>
            <a:off x="932688" y="4434840"/>
            <a:ext cx="1865376" cy="822960"/>
          </a:xfrm>
          <a:prstGeom prst="rect">
            <a:avLst/>
          </a:prstGeom>
          <a:noFill/>
          <a:ln/>
        </p:spPr>
        <p:txBody>
          <a:bodyPr wrap="square" rtlCol="0" anchor="ctr"/>
          <a:lstStyle/>
          <a:p>
            <a:pPr algn="ctr" indent="0" marL="0">
              <a:lnSpc>
                <a:spcPts val="1400"/>
              </a:lnSpc>
              <a:buNone/>
            </a:pPr>
            <a:r>
              <a:rPr lang="en-US" sz="1050" dirty="0">
                <a:solidFill>
                  <a:srgbClr val="AFC5D8"/>
                </a:solidFill>
                <a:latin typeface="Calibri" pitchFamily="34" charset="0"/>
                <a:ea typeface="Calibri" pitchFamily="34" charset="-122"/>
                <a:cs typeface="Calibri" pitchFamily="34" charset="-120"/>
              </a:rPr>
              <a:t>1.200 pelanggan, 11 fitur</a:t>
            </a:r>
            <a:endParaRPr lang="en-US" sz="1050" dirty="0"/>
          </a:p>
        </p:txBody>
      </p:sp>
      <p:sp>
        <p:nvSpPr>
          <p:cNvPr id="11" name="Text 8"/>
          <p:cNvSpPr/>
          <p:nvPr/>
        </p:nvSpPr>
        <p:spPr>
          <a:xfrm>
            <a:off x="2907792" y="3657600"/>
            <a:ext cx="182880" cy="457200"/>
          </a:xfrm>
          <a:prstGeom prst="rect">
            <a:avLst/>
          </a:prstGeom>
          <a:noFill/>
          <a:ln/>
        </p:spPr>
        <p:txBody>
          <a:bodyPr wrap="square" rtlCol="0" anchor="ctr"/>
          <a:lstStyle/>
          <a:p>
            <a:pPr algn="ctr" indent="0" marL="0">
              <a:buNone/>
            </a:pPr>
            <a:r>
              <a:rPr lang="en-US" sz="1600" dirty="0">
                <a:solidFill>
                  <a:srgbClr val="E1562B"/>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3044952" y="2743200"/>
            <a:ext cx="2084832" cy="2651760"/>
          </a:xfrm>
          <a:prstGeom prst="roundRect">
            <a:avLst>
              <a:gd name="adj" fmla="val 3509"/>
            </a:avLst>
          </a:prstGeom>
          <a:solidFill>
            <a:srgbClr val="1A3E60"/>
          </a:solidFill>
          <a:ln/>
        </p:spPr>
      </p:sp>
      <p:sp>
        <p:nvSpPr>
          <p:cNvPr id="13" name="Shape 10"/>
          <p:cNvSpPr/>
          <p:nvPr/>
        </p:nvSpPr>
        <p:spPr>
          <a:xfrm>
            <a:off x="3790188" y="3017520"/>
            <a:ext cx="594360" cy="594360"/>
          </a:xfrm>
          <a:prstGeom prst="ellipse">
            <a:avLst/>
          </a:prstGeom>
          <a:solidFill>
            <a:srgbClr val="E1562B"/>
          </a:solidFill>
          <a:ln/>
        </p:spPr>
      </p:sp>
      <p:pic>
        <p:nvPicPr>
          <p:cNvPr id="14" name="Image 1" descr="/home/claude/churn_ppt/icons/search.png">    </p:cNvPr>
          <p:cNvPicPr>
            <a:picLocks noChangeAspect="1"/>
          </p:cNvPicPr>
          <p:nvPr/>
        </p:nvPicPr>
        <p:blipFill>
          <a:blip r:embed="rId2"/>
          <a:stretch>
            <a:fillRect/>
          </a:stretch>
        </p:blipFill>
        <p:spPr>
          <a:xfrm>
            <a:off x="3938778" y="3166110"/>
            <a:ext cx="297180" cy="297180"/>
          </a:xfrm>
          <a:prstGeom prst="rect">
            <a:avLst/>
          </a:prstGeom>
        </p:spPr>
      </p:pic>
      <p:sp>
        <p:nvSpPr>
          <p:cNvPr id="15" name="Text 11"/>
          <p:cNvSpPr/>
          <p:nvPr/>
        </p:nvSpPr>
        <p:spPr>
          <a:xfrm>
            <a:off x="3154680" y="3886200"/>
            <a:ext cx="1865376" cy="45720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EDA</a:t>
            </a:r>
            <a:endParaRPr lang="en-US" sz="1350" dirty="0"/>
          </a:p>
        </p:txBody>
      </p:sp>
      <p:sp>
        <p:nvSpPr>
          <p:cNvPr id="16" name="Text 12"/>
          <p:cNvSpPr/>
          <p:nvPr/>
        </p:nvSpPr>
        <p:spPr>
          <a:xfrm>
            <a:off x="3154680" y="4434840"/>
            <a:ext cx="1865376" cy="822960"/>
          </a:xfrm>
          <a:prstGeom prst="rect">
            <a:avLst/>
          </a:prstGeom>
          <a:noFill/>
          <a:ln/>
        </p:spPr>
        <p:txBody>
          <a:bodyPr wrap="square" rtlCol="0" anchor="ctr"/>
          <a:lstStyle/>
          <a:p>
            <a:pPr algn="ctr" indent="0" marL="0">
              <a:lnSpc>
                <a:spcPts val="1400"/>
              </a:lnSpc>
              <a:buNone/>
            </a:pPr>
            <a:r>
              <a:rPr lang="en-US" sz="1050" dirty="0">
                <a:solidFill>
                  <a:srgbClr val="AFC5D8"/>
                </a:solidFill>
                <a:latin typeface="Calibri" pitchFamily="34" charset="0"/>
                <a:ea typeface="Calibri" pitchFamily="34" charset="-122"/>
                <a:cs typeface="Calibri" pitchFamily="34" charset="-120"/>
              </a:rPr>
              <a:t>Pola &amp; distribusi churn</a:t>
            </a:r>
            <a:endParaRPr lang="en-US" sz="1050" dirty="0"/>
          </a:p>
        </p:txBody>
      </p:sp>
      <p:sp>
        <p:nvSpPr>
          <p:cNvPr id="17" name="Text 13"/>
          <p:cNvSpPr/>
          <p:nvPr/>
        </p:nvSpPr>
        <p:spPr>
          <a:xfrm>
            <a:off x="5129784" y="3657600"/>
            <a:ext cx="182880" cy="457200"/>
          </a:xfrm>
          <a:prstGeom prst="rect">
            <a:avLst/>
          </a:prstGeom>
          <a:noFill/>
          <a:ln/>
        </p:spPr>
        <p:txBody>
          <a:bodyPr wrap="square" rtlCol="0" anchor="ctr"/>
          <a:lstStyle/>
          <a:p>
            <a:pPr algn="ctr" indent="0" marL="0">
              <a:buNone/>
            </a:pPr>
            <a:r>
              <a:rPr lang="en-US" sz="1600" dirty="0">
                <a:solidFill>
                  <a:srgbClr val="E1562B"/>
                </a:solidFill>
                <a:latin typeface="Calibri" pitchFamily="34" charset="0"/>
                <a:ea typeface="Calibri" pitchFamily="34" charset="-122"/>
                <a:cs typeface="Calibri" pitchFamily="34" charset="-120"/>
              </a:rPr>
              <a:t>→</a:t>
            </a:r>
            <a:endParaRPr lang="en-US" sz="1600" dirty="0"/>
          </a:p>
        </p:txBody>
      </p:sp>
      <p:sp>
        <p:nvSpPr>
          <p:cNvPr id="18" name="Shape 14"/>
          <p:cNvSpPr/>
          <p:nvPr/>
        </p:nvSpPr>
        <p:spPr>
          <a:xfrm>
            <a:off x="5266944" y="2743200"/>
            <a:ext cx="2084832" cy="2651760"/>
          </a:xfrm>
          <a:prstGeom prst="roundRect">
            <a:avLst>
              <a:gd name="adj" fmla="val 3509"/>
            </a:avLst>
          </a:prstGeom>
          <a:solidFill>
            <a:srgbClr val="1A3E60"/>
          </a:solidFill>
          <a:ln/>
        </p:spPr>
      </p:sp>
      <p:sp>
        <p:nvSpPr>
          <p:cNvPr id="19" name="Shape 15"/>
          <p:cNvSpPr/>
          <p:nvPr/>
        </p:nvSpPr>
        <p:spPr>
          <a:xfrm>
            <a:off x="6012180" y="3017520"/>
            <a:ext cx="594360" cy="594360"/>
          </a:xfrm>
          <a:prstGeom prst="ellipse">
            <a:avLst/>
          </a:prstGeom>
          <a:solidFill>
            <a:srgbClr val="E1562B"/>
          </a:solidFill>
          <a:ln/>
        </p:spPr>
      </p:sp>
      <p:pic>
        <p:nvPicPr>
          <p:cNvPr id="20" name="Image 2" descr="/home/claude/churn_ppt/icons/cogs.png">    </p:cNvPr>
          <p:cNvPicPr>
            <a:picLocks noChangeAspect="1"/>
          </p:cNvPicPr>
          <p:nvPr/>
        </p:nvPicPr>
        <p:blipFill>
          <a:blip r:embed="rId3"/>
          <a:stretch>
            <a:fillRect/>
          </a:stretch>
        </p:blipFill>
        <p:spPr>
          <a:xfrm>
            <a:off x="6160770" y="3166110"/>
            <a:ext cx="297180" cy="297180"/>
          </a:xfrm>
          <a:prstGeom prst="rect">
            <a:avLst/>
          </a:prstGeom>
        </p:spPr>
      </p:pic>
      <p:sp>
        <p:nvSpPr>
          <p:cNvPr id="21" name="Text 16"/>
          <p:cNvSpPr/>
          <p:nvPr/>
        </p:nvSpPr>
        <p:spPr>
          <a:xfrm>
            <a:off x="5376672" y="3886200"/>
            <a:ext cx="1865376" cy="45720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Feature Eng.</a:t>
            </a:r>
            <a:endParaRPr lang="en-US" sz="1350" dirty="0"/>
          </a:p>
        </p:txBody>
      </p:sp>
      <p:sp>
        <p:nvSpPr>
          <p:cNvPr id="22" name="Text 17"/>
          <p:cNvSpPr/>
          <p:nvPr/>
        </p:nvSpPr>
        <p:spPr>
          <a:xfrm>
            <a:off x="5376672" y="4434840"/>
            <a:ext cx="1865376" cy="822960"/>
          </a:xfrm>
          <a:prstGeom prst="rect">
            <a:avLst/>
          </a:prstGeom>
          <a:noFill/>
          <a:ln/>
        </p:spPr>
        <p:txBody>
          <a:bodyPr wrap="square" rtlCol="0" anchor="ctr"/>
          <a:lstStyle/>
          <a:p>
            <a:pPr algn="ctr" indent="0" marL="0">
              <a:lnSpc>
                <a:spcPts val="1400"/>
              </a:lnSpc>
              <a:buNone/>
            </a:pPr>
            <a:r>
              <a:rPr lang="en-US" sz="1050" dirty="0">
                <a:solidFill>
                  <a:srgbClr val="AFC5D8"/>
                </a:solidFill>
                <a:latin typeface="Calibri" pitchFamily="34" charset="0"/>
                <a:ea typeface="Calibri" pitchFamily="34" charset="-122"/>
                <a:cs typeface="Calibri" pitchFamily="34" charset="-120"/>
              </a:rPr>
              <a:t>3 fitur turunan baru</a:t>
            </a:r>
            <a:endParaRPr lang="en-US" sz="1050" dirty="0"/>
          </a:p>
        </p:txBody>
      </p:sp>
      <p:sp>
        <p:nvSpPr>
          <p:cNvPr id="23" name="Text 18"/>
          <p:cNvSpPr/>
          <p:nvPr/>
        </p:nvSpPr>
        <p:spPr>
          <a:xfrm>
            <a:off x="7351776" y="3657600"/>
            <a:ext cx="182880" cy="457200"/>
          </a:xfrm>
          <a:prstGeom prst="rect">
            <a:avLst/>
          </a:prstGeom>
          <a:noFill/>
          <a:ln/>
        </p:spPr>
        <p:txBody>
          <a:bodyPr wrap="square" rtlCol="0" anchor="ctr"/>
          <a:lstStyle/>
          <a:p>
            <a:pPr algn="ctr" indent="0" marL="0">
              <a:buNone/>
            </a:pPr>
            <a:r>
              <a:rPr lang="en-US" sz="1600" dirty="0">
                <a:solidFill>
                  <a:srgbClr val="E1562B"/>
                </a:solidFill>
                <a:latin typeface="Calibri" pitchFamily="34" charset="0"/>
                <a:ea typeface="Calibri" pitchFamily="34" charset="-122"/>
                <a:cs typeface="Calibri" pitchFamily="34" charset="-120"/>
              </a:rPr>
              <a:t>→</a:t>
            </a:r>
            <a:endParaRPr lang="en-US" sz="1600" dirty="0"/>
          </a:p>
        </p:txBody>
      </p:sp>
      <p:sp>
        <p:nvSpPr>
          <p:cNvPr id="24" name="Shape 19"/>
          <p:cNvSpPr/>
          <p:nvPr/>
        </p:nvSpPr>
        <p:spPr>
          <a:xfrm>
            <a:off x="7488936" y="2743200"/>
            <a:ext cx="2084832" cy="2651760"/>
          </a:xfrm>
          <a:prstGeom prst="roundRect">
            <a:avLst>
              <a:gd name="adj" fmla="val 3509"/>
            </a:avLst>
          </a:prstGeom>
          <a:solidFill>
            <a:srgbClr val="1A3E60"/>
          </a:solidFill>
          <a:ln/>
        </p:spPr>
      </p:sp>
      <p:sp>
        <p:nvSpPr>
          <p:cNvPr id="25" name="Shape 20"/>
          <p:cNvSpPr/>
          <p:nvPr/>
        </p:nvSpPr>
        <p:spPr>
          <a:xfrm>
            <a:off x="8234172" y="3017520"/>
            <a:ext cx="594360" cy="594360"/>
          </a:xfrm>
          <a:prstGeom prst="ellipse">
            <a:avLst/>
          </a:prstGeom>
          <a:solidFill>
            <a:srgbClr val="E1562B"/>
          </a:solidFill>
          <a:ln/>
        </p:spPr>
      </p:sp>
      <p:pic>
        <p:nvPicPr>
          <p:cNvPr id="26" name="Image 3" descr="/home/claude/churn_ppt/icons/brain.png">    </p:cNvPr>
          <p:cNvPicPr>
            <a:picLocks noChangeAspect="1"/>
          </p:cNvPicPr>
          <p:nvPr/>
        </p:nvPicPr>
        <p:blipFill>
          <a:blip r:embed="rId4"/>
          <a:stretch>
            <a:fillRect/>
          </a:stretch>
        </p:blipFill>
        <p:spPr>
          <a:xfrm>
            <a:off x="8382762" y="3166110"/>
            <a:ext cx="297180" cy="297180"/>
          </a:xfrm>
          <a:prstGeom prst="rect">
            <a:avLst/>
          </a:prstGeom>
        </p:spPr>
      </p:pic>
      <p:sp>
        <p:nvSpPr>
          <p:cNvPr id="27" name="Text 21"/>
          <p:cNvSpPr/>
          <p:nvPr/>
        </p:nvSpPr>
        <p:spPr>
          <a:xfrm>
            <a:off x="7598664" y="3886200"/>
            <a:ext cx="1865376" cy="45720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XGBoost + Tuning</a:t>
            </a:r>
            <a:endParaRPr lang="en-US" sz="1350" dirty="0"/>
          </a:p>
        </p:txBody>
      </p:sp>
      <p:sp>
        <p:nvSpPr>
          <p:cNvPr id="28" name="Text 22"/>
          <p:cNvSpPr/>
          <p:nvPr/>
        </p:nvSpPr>
        <p:spPr>
          <a:xfrm>
            <a:off x="7598664" y="4434840"/>
            <a:ext cx="1865376" cy="822960"/>
          </a:xfrm>
          <a:prstGeom prst="rect">
            <a:avLst/>
          </a:prstGeom>
          <a:noFill/>
          <a:ln/>
        </p:spPr>
        <p:txBody>
          <a:bodyPr wrap="square" rtlCol="0" anchor="ctr"/>
          <a:lstStyle/>
          <a:p>
            <a:pPr algn="ctr" indent="0" marL="0">
              <a:lnSpc>
                <a:spcPts val="1400"/>
              </a:lnSpc>
              <a:buNone/>
            </a:pPr>
            <a:r>
              <a:rPr lang="en-US" sz="1050" dirty="0">
                <a:solidFill>
                  <a:srgbClr val="AFC5D8"/>
                </a:solidFill>
                <a:latin typeface="Calibri" pitchFamily="34" charset="0"/>
                <a:ea typeface="Calibri" pitchFamily="34" charset="-122"/>
                <a:cs typeface="Calibri" pitchFamily="34" charset="-120"/>
              </a:rPr>
              <a:t>GridSearchCV, 5-fold CV</a:t>
            </a:r>
            <a:endParaRPr lang="en-US" sz="1050" dirty="0"/>
          </a:p>
        </p:txBody>
      </p:sp>
      <p:sp>
        <p:nvSpPr>
          <p:cNvPr id="29" name="Text 23"/>
          <p:cNvSpPr/>
          <p:nvPr/>
        </p:nvSpPr>
        <p:spPr>
          <a:xfrm>
            <a:off x="9573768" y="3657600"/>
            <a:ext cx="182880" cy="457200"/>
          </a:xfrm>
          <a:prstGeom prst="rect">
            <a:avLst/>
          </a:prstGeom>
          <a:noFill/>
          <a:ln/>
        </p:spPr>
        <p:txBody>
          <a:bodyPr wrap="square" rtlCol="0" anchor="ctr"/>
          <a:lstStyle/>
          <a:p>
            <a:pPr algn="ctr" indent="0" marL="0">
              <a:buNone/>
            </a:pPr>
            <a:r>
              <a:rPr lang="en-US" sz="1600" dirty="0">
                <a:solidFill>
                  <a:srgbClr val="E1562B"/>
                </a:solidFill>
                <a:latin typeface="Calibri" pitchFamily="34" charset="0"/>
                <a:ea typeface="Calibri" pitchFamily="34" charset="-122"/>
                <a:cs typeface="Calibri" pitchFamily="34" charset="-120"/>
              </a:rPr>
              <a:t>→</a:t>
            </a:r>
            <a:endParaRPr lang="en-US" sz="1600" dirty="0"/>
          </a:p>
        </p:txBody>
      </p:sp>
      <p:sp>
        <p:nvSpPr>
          <p:cNvPr id="30" name="Shape 24"/>
          <p:cNvSpPr/>
          <p:nvPr/>
        </p:nvSpPr>
        <p:spPr>
          <a:xfrm>
            <a:off x="9710928" y="2743200"/>
            <a:ext cx="2084832" cy="2651760"/>
          </a:xfrm>
          <a:prstGeom prst="roundRect">
            <a:avLst>
              <a:gd name="adj" fmla="val 3509"/>
            </a:avLst>
          </a:prstGeom>
          <a:solidFill>
            <a:srgbClr val="1A3E60"/>
          </a:solidFill>
          <a:ln/>
        </p:spPr>
      </p:sp>
      <p:sp>
        <p:nvSpPr>
          <p:cNvPr id="31" name="Shape 25"/>
          <p:cNvSpPr/>
          <p:nvPr/>
        </p:nvSpPr>
        <p:spPr>
          <a:xfrm>
            <a:off x="10456164" y="3017520"/>
            <a:ext cx="594360" cy="594360"/>
          </a:xfrm>
          <a:prstGeom prst="ellipse">
            <a:avLst/>
          </a:prstGeom>
          <a:solidFill>
            <a:srgbClr val="E1562B"/>
          </a:solidFill>
          <a:ln/>
        </p:spPr>
      </p:sp>
      <p:pic>
        <p:nvPicPr>
          <p:cNvPr id="32" name="Image 4" descr="/home/claude/churn_ppt/icons/chartbar.png">    </p:cNvPr>
          <p:cNvPicPr>
            <a:picLocks noChangeAspect="1"/>
          </p:cNvPicPr>
          <p:nvPr/>
        </p:nvPicPr>
        <p:blipFill>
          <a:blip r:embed="rId5"/>
          <a:stretch>
            <a:fillRect/>
          </a:stretch>
        </p:blipFill>
        <p:spPr>
          <a:xfrm>
            <a:off x="10604754" y="3166110"/>
            <a:ext cx="297180" cy="297180"/>
          </a:xfrm>
          <a:prstGeom prst="rect">
            <a:avLst/>
          </a:prstGeom>
        </p:spPr>
      </p:pic>
      <p:sp>
        <p:nvSpPr>
          <p:cNvPr id="33" name="Text 26"/>
          <p:cNvSpPr/>
          <p:nvPr/>
        </p:nvSpPr>
        <p:spPr>
          <a:xfrm>
            <a:off x="9820656" y="3886200"/>
            <a:ext cx="1865376" cy="45720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Evaluasi &amp; Insight</a:t>
            </a:r>
            <a:endParaRPr lang="en-US" sz="1350" dirty="0"/>
          </a:p>
        </p:txBody>
      </p:sp>
      <p:sp>
        <p:nvSpPr>
          <p:cNvPr id="34" name="Text 27"/>
          <p:cNvSpPr/>
          <p:nvPr/>
        </p:nvSpPr>
        <p:spPr>
          <a:xfrm>
            <a:off x="9820656" y="4434840"/>
            <a:ext cx="1865376" cy="822960"/>
          </a:xfrm>
          <a:prstGeom prst="rect">
            <a:avLst/>
          </a:prstGeom>
          <a:noFill/>
          <a:ln/>
        </p:spPr>
        <p:txBody>
          <a:bodyPr wrap="square" rtlCol="0" anchor="ctr"/>
          <a:lstStyle/>
          <a:p>
            <a:pPr algn="ctr" indent="0" marL="0">
              <a:lnSpc>
                <a:spcPts val="1400"/>
              </a:lnSpc>
              <a:buNone/>
            </a:pPr>
            <a:r>
              <a:rPr lang="en-US" sz="1050" dirty="0">
                <a:solidFill>
                  <a:srgbClr val="AFC5D8"/>
                </a:solidFill>
                <a:latin typeface="Calibri" pitchFamily="34" charset="0"/>
                <a:ea typeface="Calibri" pitchFamily="34" charset="-122"/>
                <a:cs typeface="Calibri" pitchFamily="34" charset="-120"/>
              </a:rPr>
              <a:t>Rekomendasi bisnis</a:t>
            </a:r>
            <a:endParaRPr lang="en-US" sz="1050" dirty="0"/>
          </a:p>
        </p:txBody>
      </p:sp>
      <p:sp>
        <p:nvSpPr>
          <p:cNvPr id="35" name="Text 28"/>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8FA7BE"/>
                </a:solidFill>
                <a:latin typeface="Calibri" pitchFamily="34" charset="0"/>
                <a:ea typeface="Calibri" pitchFamily="34" charset="-122"/>
                <a:cs typeface="Calibri" pitchFamily="34" charset="-120"/>
              </a:rPr>
              <a:t>PT ABC — Customer Churn Prediction</a:t>
            </a:r>
            <a:endParaRPr lang="en-US" sz="900" dirty="0"/>
          </a:p>
        </p:txBody>
      </p:sp>
      <p:sp>
        <p:nvSpPr>
          <p:cNvPr id="36" name="Text 29"/>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8FA7B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2600" b="1" dirty="0">
                <a:solidFill>
                  <a:srgbClr val="12314F"/>
                </a:solidFill>
                <a:latin typeface="Cambria" pitchFamily="34" charset="0"/>
                <a:ea typeface="Cambria" pitchFamily="34" charset="-122"/>
                <a:cs typeface="Cambria" pitchFamily="34" charset="-120"/>
              </a:rPr>
              <a:t>Dataset: Pelanggan Fixed Broadband</a:t>
            </a:r>
            <a:endParaRPr lang="en-US" sz="2600" dirty="0"/>
          </a:p>
        </p:txBody>
      </p:sp>
      <p:sp>
        <p:nvSpPr>
          <p:cNvPr id="3" name="Text 1"/>
          <p:cNvSpPr/>
          <p:nvPr/>
        </p:nvSpPr>
        <p:spPr>
          <a:xfrm>
            <a:off x="548640" y="1051560"/>
            <a:ext cx="7680960" cy="640080"/>
          </a:xfrm>
          <a:prstGeom prst="rect">
            <a:avLst/>
          </a:prstGeom>
          <a:noFill/>
          <a:ln/>
        </p:spPr>
        <p:txBody>
          <a:bodyPr wrap="square" rtlCol="0" anchor="ctr"/>
          <a:lstStyle/>
          <a:p>
            <a:pPr indent="0" marL="0">
              <a:lnSpc>
                <a:spcPts val="1800"/>
              </a:lnSpc>
              <a:buNone/>
            </a:pPr>
            <a:r>
              <a:rPr lang="en-US" sz="1300" dirty="0">
                <a:solidFill>
                  <a:srgbClr val="5C7086"/>
                </a:solidFill>
                <a:latin typeface="Calibri" pitchFamily="34" charset="0"/>
                <a:ea typeface="Calibri" pitchFamily="34" charset="-122"/>
                <a:cs typeface="Calibri" pitchFamily="34" charset="-120"/>
              </a:rPr>
              <a:t>Data sintetis (dummy) dibuat menggunakan NumPy &amp; Pandas untuk mensimulasikan karakteristik pelanggan, dengan tingkat churn ±27% agar menyerupai kondisi bisnis realistis.</a:t>
            </a:r>
            <a:endParaRPr lang="en-US" sz="1300" dirty="0"/>
          </a:p>
        </p:txBody>
      </p:sp>
      <p:sp>
        <p:nvSpPr>
          <p:cNvPr id="4" name="Shape 2"/>
          <p:cNvSpPr/>
          <p:nvPr/>
        </p:nvSpPr>
        <p:spPr>
          <a:xfrm>
            <a:off x="548640" y="2039112"/>
            <a:ext cx="73152" cy="73152"/>
          </a:xfrm>
          <a:prstGeom prst="ellipse">
            <a:avLst/>
          </a:prstGeom>
          <a:solidFill>
            <a:srgbClr val="E1562B"/>
          </a:solidFill>
          <a:ln/>
        </p:spPr>
      </p:sp>
      <p:sp>
        <p:nvSpPr>
          <p:cNvPr id="5" name="Text 3"/>
          <p:cNvSpPr/>
          <p:nvPr/>
        </p:nvSpPr>
        <p:spPr>
          <a:xfrm>
            <a:off x="777240" y="1892808"/>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customer_id — ID unik pelanggan</a:t>
            </a:r>
            <a:endParaRPr lang="en-US" sz="1100" dirty="0"/>
          </a:p>
        </p:txBody>
      </p:sp>
      <p:sp>
        <p:nvSpPr>
          <p:cNvPr id="6" name="Shape 4"/>
          <p:cNvSpPr/>
          <p:nvPr/>
        </p:nvSpPr>
        <p:spPr>
          <a:xfrm>
            <a:off x="4480560" y="2039112"/>
            <a:ext cx="73152" cy="73152"/>
          </a:xfrm>
          <a:prstGeom prst="ellipse">
            <a:avLst/>
          </a:prstGeom>
          <a:solidFill>
            <a:srgbClr val="E1562B"/>
          </a:solidFill>
          <a:ln/>
        </p:spPr>
      </p:sp>
      <p:sp>
        <p:nvSpPr>
          <p:cNvPr id="7" name="Text 5"/>
          <p:cNvSpPr/>
          <p:nvPr/>
        </p:nvSpPr>
        <p:spPr>
          <a:xfrm>
            <a:off x="4709160" y="1892808"/>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region — wilayah pelanggan</a:t>
            </a:r>
            <a:endParaRPr lang="en-US" sz="1100" dirty="0"/>
          </a:p>
        </p:txBody>
      </p:sp>
      <p:sp>
        <p:nvSpPr>
          <p:cNvPr id="8" name="Shape 6"/>
          <p:cNvSpPr/>
          <p:nvPr/>
        </p:nvSpPr>
        <p:spPr>
          <a:xfrm>
            <a:off x="548640" y="2606040"/>
            <a:ext cx="73152" cy="73152"/>
          </a:xfrm>
          <a:prstGeom prst="ellipse">
            <a:avLst/>
          </a:prstGeom>
          <a:solidFill>
            <a:srgbClr val="E1562B"/>
          </a:solidFill>
          <a:ln/>
        </p:spPr>
      </p:sp>
      <p:sp>
        <p:nvSpPr>
          <p:cNvPr id="9" name="Text 7"/>
          <p:cNvSpPr/>
          <p:nvPr/>
        </p:nvSpPr>
        <p:spPr>
          <a:xfrm>
            <a:off x="777240" y="2459736"/>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age_group — kelompok usia</a:t>
            </a:r>
            <a:endParaRPr lang="en-US" sz="1100" dirty="0"/>
          </a:p>
        </p:txBody>
      </p:sp>
      <p:sp>
        <p:nvSpPr>
          <p:cNvPr id="10" name="Shape 8"/>
          <p:cNvSpPr/>
          <p:nvPr/>
        </p:nvSpPr>
        <p:spPr>
          <a:xfrm>
            <a:off x="4480560" y="2606040"/>
            <a:ext cx="73152" cy="73152"/>
          </a:xfrm>
          <a:prstGeom prst="ellipse">
            <a:avLst/>
          </a:prstGeom>
          <a:solidFill>
            <a:srgbClr val="E1562B"/>
          </a:solidFill>
          <a:ln/>
        </p:spPr>
      </p:sp>
      <p:sp>
        <p:nvSpPr>
          <p:cNvPr id="11" name="Text 9"/>
          <p:cNvSpPr/>
          <p:nvPr/>
        </p:nvSpPr>
        <p:spPr>
          <a:xfrm>
            <a:off x="4709160" y="2459736"/>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tenure_months — lama berlangganan</a:t>
            </a:r>
            <a:endParaRPr lang="en-US" sz="1100" dirty="0"/>
          </a:p>
        </p:txBody>
      </p:sp>
      <p:sp>
        <p:nvSpPr>
          <p:cNvPr id="12" name="Shape 10"/>
          <p:cNvSpPr/>
          <p:nvPr/>
        </p:nvSpPr>
        <p:spPr>
          <a:xfrm>
            <a:off x="548640" y="3172968"/>
            <a:ext cx="73152" cy="73152"/>
          </a:xfrm>
          <a:prstGeom prst="ellipse">
            <a:avLst/>
          </a:prstGeom>
          <a:solidFill>
            <a:srgbClr val="E1562B"/>
          </a:solidFill>
          <a:ln/>
        </p:spPr>
      </p:sp>
      <p:sp>
        <p:nvSpPr>
          <p:cNvPr id="13" name="Text 11"/>
          <p:cNvSpPr/>
          <p:nvPr/>
        </p:nvSpPr>
        <p:spPr>
          <a:xfrm>
            <a:off x="777240" y="3026664"/>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speed_mbps — kecepatan paket</a:t>
            </a:r>
            <a:endParaRPr lang="en-US" sz="1100" dirty="0"/>
          </a:p>
        </p:txBody>
      </p:sp>
      <p:sp>
        <p:nvSpPr>
          <p:cNvPr id="14" name="Shape 12"/>
          <p:cNvSpPr/>
          <p:nvPr/>
        </p:nvSpPr>
        <p:spPr>
          <a:xfrm>
            <a:off x="4480560" y="3172968"/>
            <a:ext cx="73152" cy="73152"/>
          </a:xfrm>
          <a:prstGeom prst="ellipse">
            <a:avLst/>
          </a:prstGeom>
          <a:solidFill>
            <a:srgbClr val="E1562B"/>
          </a:solidFill>
          <a:ln/>
        </p:spPr>
      </p:sp>
      <p:sp>
        <p:nvSpPr>
          <p:cNvPr id="15" name="Text 13"/>
          <p:cNvSpPr/>
          <p:nvPr/>
        </p:nvSpPr>
        <p:spPr>
          <a:xfrm>
            <a:off x="4709160" y="3026664"/>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monthly_charge — biaya bulanan</a:t>
            </a:r>
            <a:endParaRPr lang="en-US" sz="1100" dirty="0"/>
          </a:p>
        </p:txBody>
      </p:sp>
      <p:sp>
        <p:nvSpPr>
          <p:cNvPr id="16" name="Shape 14"/>
          <p:cNvSpPr/>
          <p:nvPr/>
        </p:nvSpPr>
        <p:spPr>
          <a:xfrm>
            <a:off x="548640" y="3739896"/>
            <a:ext cx="73152" cy="73152"/>
          </a:xfrm>
          <a:prstGeom prst="ellipse">
            <a:avLst/>
          </a:prstGeom>
          <a:solidFill>
            <a:srgbClr val="E1562B"/>
          </a:solidFill>
          <a:ln/>
        </p:spPr>
      </p:sp>
      <p:sp>
        <p:nvSpPr>
          <p:cNvPr id="17" name="Text 15"/>
          <p:cNvSpPr/>
          <p:nvPr/>
        </p:nvSpPr>
        <p:spPr>
          <a:xfrm>
            <a:off x="777240" y="3593592"/>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contract_type — jenis kontrak</a:t>
            </a:r>
            <a:endParaRPr lang="en-US" sz="1100" dirty="0"/>
          </a:p>
        </p:txBody>
      </p:sp>
      <p:sp>
        <p:nvSpPr>
          <p:cNvPr id="18" name="Shape 16"/>
          <p:cNvSpPr/>
          <p:nvPr/>
        </p:nvSpPr>
        <p:spPr>
          <a:xfrm>
            <a:off x="4480560" y="3739896"/>
            <a:ext cx="73152" cy="73152"/>
          </a:xfrm>
          <a:prstGeom prst="ellipse">
            <a:avLst/>
          </a:prstGeom>
          <a:solidFill>
            <a:srgbClr val="E1562B"/>
          </a:solidFill>
          <a:ln/>
        </p:spPr>
      </p:sp>
      <p:sp>
        <p:nvSpPr>
          <p:cNvPr id="19" name="Text 17"/>
          <p:cNvSpPr/>
          <p:nvPr/>
        </p:nvSpPr>
        <p:spPr>
          <a:xfrm>
            <a:off x="4709160" y="3593592"/>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support_calls — jumlah kontak CS</a:t>
            </a:r>
            <a:endParaRPr lang="en-US" sz="1100" dirty="0"/>
          </a:p>
        </p:txBody>
      </p:sp>
      <p:sp>
        <p:nvSpPr>
          <p:cNvPr id="20" name="Shape 18"/>
          <p:cNvSpPr/>
          <p:nvPr/>
        </p:nvSpPr>
        <p:spPr>
          <a:xfrm>
            <a:off x="548640" y="4306824"/>
            <a:ext cx="73152" cy="73152"/>
          </a:xfrm>
          <a:prstGeom prst="ellipse">
            <a:avLst/>
          </a:prstGeom>
          <a:solidFill>
            <a:srgbClr val="E1562B"/>
          </a:solidFill>
          <a:ln/>
        </p:spPr>
      </p:sp>
      <p:sp>
        <p:nvSpPr>
          <p:cNvPr id="21" name="Text 19"/>
          <p:cNvSpPr/>
          <p:nvPr/>
        </p:nvSpPr>
        <p:spPr>
          <a:xfrm>
            <a:off x="777240" y="4160520"/>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downtime_hours — jam gangguan</a:t>
            </a:r>
            <a:endParaRPr lang="en-US" sz="1100" dirty="0"/>
          </a:p>
        </p:txBody>
      </p:sp>
      <p:sp>
        <p:nvSpPr>
          <p:cNvPr id="22" name="Shape 20"/>
          <p:cNvSpPr/>
          <p:nvPr/>
        </p:nvSpPr>
        <p:spPr>
          <a:xfrm>
            <a:off x="4480560" y="4306824"/>
            <a:ext cx="73152" cy="73152"/>
          </a:xfrm>
          <a:prstGeom prst="ellipse">
            <a:avLst/>
          </a:prstGeom>
          <a:solidFill>
            <a:srgbClr val="E1562B"/>
          </a:solidFill>
          <a:ln/>
        </p:spPr>
      </p:sp>
      <p:sp>
        <p:nvSpPr>
          <p:cNvPr id="23" name="Text 21"/>
          <p:cNvSpPr/>
          <p:nvPr/>
        </p:nvSpPr>
        <p:spPr>
          <a:xfrm>
            <a:off x="4709160" y="4160520"/>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autopay — status autopay</a:t>
            </a:r>
            <a:endParaRPr lang="en-US" sz="1100" dirty="0"/>
          </a:p>
        </p:txBody>
      </p:sp>
      <p:sp>
        <p:nvSpPr>
          <p:cNvPr id="24" name="Shape 22"/>
          <p:cNvSpPr/>
          <p:nvPr/>
        </p:nvSpPr>
        <p:spPr>
          <a:xfrm>
            <a:off x="548640" y="4873752"/>
            <a:ext cx="73152" cy="73152"/>
          </a:xfrm>
          <a:prstGeom prst="ellipse">
            <a:avLst/>
          </a:prstGeom>
          <a:solidFill>
            <a:srgbClr val="E1562B"/>
          </a:solidFill>
          <a:ln/>
        </p:spPr>
      </p:sp>
      <p:sp>
        <p:nvSpPr>
          <p:cNvPr id="25" name="Text 23"/>
          <p:cNvSpPr/>
          <p:nvPr/>
        </p:nvSpPr>
        <p:spPr>
          <a:xfrm>
            <a:off x="777240" y="4727448"/>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bundle_package — paket layanan</a:t>
            </a:r>
            <a:endParaRPr lang="en-US" sz="1100" dirty="0"/>
          </a:p>
        </p:txBody>
      </p:sp>
      <p:sp>
        <p:nvSpPr>
          <p:cNvPr id="26" name="Shape 24"/>
          <p:cNvSpPr/>
          <p:nvPr/>
        </p:nvSpPr>
        <p:spPr>
          <a:xfrm>
            <a:off x="4480560" y="4873752"/>
            <a:ext cx="73152" cy="73152"/>
          </a:xfrm>
          <a:prstGeom prst="ellipse">
            <a:avLst/>
          </a:prstGeom>
          <a:solidFill>
            <a:srgbClr val="E1562B"/>
          </a:solidFill>
          <a:ln/>
        </p:spPr>
      </p:sp>
      <p:sp>
        <p:nvSpPr>
          <p:cNvPr id="27" name="Text 25"/>
          <p:cNvSpPr/>
          <p:nvPr/>
        </p:nvSpPr>
        <p:spPr>
          <a:xfrm>
            <a:off x="4709160" y="4727448"/>
            <a:ext cx="3657600" cy="365760"/>
          </a:xfrm>
          <a:prstGeom prst="rect">
            <a:avLst/>
          </a:prstGeom>
          <a:noFill/>
          <a:ln/>
        </p:spPr>
        <p:txBody>
          <a:bodyPr wrap="square" rtlCol="0" anchor="ctr"/>
          <a:lstStyle/>
          <a:p>
            <a:pPr indent="0" marL="0">
              <a:buNone/>
            </a:pPr>
            <a:r>
              <a:rPr lang="en-US" sz="1100" dirty="0">
                <a:solidFill>
                  <a:srgbClr val="1B2B3A"/>
                </a:solidFill>
                <a:latin typeface="Calibri" pitchFamily="34" charset="0"/>
                <a:ea typeface="Calibri" pitchFamily="34" charset="-122"/>
                <a:cs typeface="Calibri" pitchFamily="34" charset="-120"/>
              </a:rPr>
              <a:t>churn (target) — status churn</a:t>
            </a:r>
            <a:endParaRPr lang="en-US" sz="1100" dirty="0"/>
          </a:p>
        </p:txBody>
      </p:sp>
      <p:sp>
        <p:nvSpPr>
          <p:cNvPr id="28" name="Shape 26"/>
          <p:cNvSpPr/>
          <p:nvPr/>
        </p:nvSpPr>
        <p:spPr>
          <a:xfrm>
            <a:off x="8503920" y="1965960"/>
            <a:ext cx="3108960" cy="4114800"/>
          </a:xfrm>
          <a:prstGeom prst="roundRect">
            <a:avLst>
              <a:gd name="adj" fmla="val 2353"/>
            </a:avLst>
          </a:prstGeom>
          <a:solidFill>
            <a:srgbClr val="12314F"/>
          </a:solidFill>
          <a:ln/>
        </p:spPr>
      </p:sp>
      <p:sp>
        <p:nvSpPr>
          <p:cNvPr id="29" name="Text 27"/>
          <p:cNvSpPr/>
          <p:nvPr/>
        </p:nvSpPr>
        <p:spPr>
          <a:xfrm>
            <a:off x="8778240" y="2194560"/>
            <a:ext cx="2651760" cy="274320"/>
          </a:xfrm>
          <a:prstGeom prst="rect">
            <a:avLst/>
          </a:prstGeom>
          <a:noFill/>
          <a:ln/>
        </p:spPr>
        <p:txBody>
          <a:bodyPr wrap="square" rtlCol="0" anchor="ctr"/>
          <a:lstStyle/>
          <a:p>
            <a:pPr indent="0" marL="0">
              <a:buNone/>
            </a:pPr>
            <a:r>
              <a:rPr lang="en-US" sz="1050" b="1" spc="150" kern="0" dirty="0">
                <a:solidFill>
                  <a:srgbClr val="8FA7BE"/>
                </a:solidFill>
                <a:latin typeface="Calibri" pitchFamily="34" charset="0"/>
                <a:ea typeface="Calibri" pitchFamily="34" charset="-122"/>
                <a:cs typeface="Calibri" pitchFamily="34" charset="-120"/>
              </a:rPr>
              <a:t>DISTRIBUSI TARGET</a:t>
            </a:r>
            <a:endParaRPr lang="en-US" sz="1050" dirty="0"/>
          </a:p>
        </p:txBody>
      </p:sp>
      <p:sp>
        <p:nvSpPr>
          <p:cNvPr id="30" name="Text 28"/>
          <p:cNvSpPr/>
          <p:nvPr/>
        </p:nvSpPr>
        <p:spPr>
          <a:xfrm>
            <a:off x="8778240" y="2560320"/>
            <a:ext cx="2651760" cy="5029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75,6%</a:t>
            </a:r>
            <a:endParaRPr lang="en-US" sz="3000" dirty="0"/>
          </a:p>
        </p:txBody>
      </p:sp>
      <p:sp>
        <p:nvSpPr>
          <p:cNvPr id="31" name="Text 29"/>
          <p:cNvSpPr/>
          <p:nvPr/>
        </p:nvSpPr>
        <p:spPr>
          <a:xfrm>
            <a:off x="8778240" y="3063240"/>
            <a:ext cx="2651760" cy="320040"/>
          </a:xfrm>
          <a:prstGeom prst="rect">
            <a:avLst/>
          </a:prstGeom>
          <a:noFill/>
          <a:ln/>
        </p:spPr>
        <p:txBody>
          <a:bodyPr wrap="square" rtlCol="0" anchor="ctr"/>
          <a:lstStyle/>
          <a:p>
            <a:pPr indent="0" marL="0">
              <a:buNone/>
            </a:pPr>
            <a:r>
              <a:rPr lang="en-US" sz="1100" dirty="0">
                <a:solidFill>
                  <a:srgbClr val="C7D8E6"/>
                </a:solidFill>
                <a:latin typeface="Calibri" pitchFamily="34" charset="0"/>
                <a:ea typeface="Calibri" pitchFamily="34" charset="-122"/>
                <a:cs typeface="Calibri" pitchFamily="34" charset="-120"/>
              </a:rPr>
              <a:t>Pelanggan Aktif (907)</a:t>
            </a:r>
            <a:endParaRPr lang="en-US" sz="1100" dirty="0"/>
          </a:p>
        </p:txBody>
      </p:sp>
      <p:sp>
        <p:nvSpPr>
          <p:cNvPr id="32" name="Shape 30"/>
          <p:cNvSpPr/>
          <p:nvPr/>
        </p:nvSpPr>
        <p:spPr>
          <a:xfrm>
            <a:off x="8778240" y="3429000"/>
            <a:ext cx="2004731" cy="256032"/>
          </a:xfrm>
          <a:prstGeom prst="roundRect">
            <a:avLst>
              <a:gd name="adj" fmla="val 14286"/>
            </a:avLst>
          </a:prstGeom>
          <a:solidFill>
            <a:srgbClr val="6F93B3"/>
          </a:solidFill>
          <a:ln/>
        </p:spPr>
      </p:sp>
      <p:sp>
        <p:nvSpPr>
          <p:cNvPr id="33" name="Text 31"/>
          <p:cNvSpPr/>
          <p:nvPr/>
        </p:nvSpPr>
        <p:spPr>
          <a:xfrm>
            <a:off x="8778240" y="3931920"/>
            <a:ext cx="2651760" cy="502920"/>
          </a:xfrm>
          <a:prstGeom prst="rect">
            <a:avLst/>
          </a:prstGeom>
          <a:noFill/>
          <a:ln/>
        </p:spPr>
        <p:txBody>
          <a:bodyPr wrap="square" rtlCol="0" anchor="ctr"/>
          <a:lstStyle/>
          <a:p>
            <a:pPr indent="0" marL="0">
              <a:buNone/>
            </a:pPr>
            <a:r>
              <a:rPr lang="en-US" sz="3000" b="1" dirty="0">
                <a:solidFill>
                  <a:srgbClr val="E1562B"/>
                </a:solidFill>
                <a:latin typeface="Cambria" pitchFamily="34" charset="0"/>
                <a:ea typeface="Cambria" pitchFamily="34" charset="-122"/>
                <a:cs typeface="Cambria" pitchFamily="34" charset="-120"/>
              </a:rPr>
              <a:t>24,4%</a:t>
            </a:r>
            <a:endParaRPr lang="en-US" sz="3000" dirty="0"/>
          </a:p>
        </p:txBody>
      </p:sp>
      <p:sp>
        <p:nvSpPr>
          <p:cNvPr id="34" name="Text 32"/>
          <p:cNvSpPr/>
          <p:nvPr/>
        </p:nvSpPr>
        <p:spPr>
          <a:xfrm>
            <a:off x="8778240" y="4434840"/>
            <a:ext cx="2651760" cy="320040"/>
          </a:xfrm>
          <a:prstGeom prst="rect">
            <a:avLst/>
          </a:prstGeom>
          <a:noFill/>
          <a:ln/>
        </p:spPr>
        <p:txBody>
          <a:bodyPr wrap="square" rtlCol="0" anchor="ctr"/>
          <a:lstStyle/>
          <a:p>
            <a:pPr indent="0" marL="0">
              <a:buNone/>
            </a:pPr>
            <a:r>
              <a:rPr lang="en-US" sz="1100" dirty="0">
                <a:solidFill>
                  <a:srgbClr val="C7D8E6"/>
                </a:solidFill>
                <a:latin typeface="Calibri" pitchFamily="34" charset="0"/>
                <a:ea typeface="Calibri" pitchFamily="34" charset="-122"/>
                <a:cs typeface="Calibri" pitchFamily="34" charset="-120"/>
              </a:rPr>
              <a:t>Pelanggan Churn (293)</a:t>
            </a:r>
            <a:endParaRPr lang="en-US" sz="1100" dirty="0"/>
          </a:p>
        </p:txBody>
      </p:sp>
      <p:sp>
        <p:nvSpPr>
          <p:cNvPr id="35" name="Shape 33"/>
          <p:cNvSpPr/>
          <p:nvPr/>
        </p:nvSpPr>
        <p:spPr>
          <a:xfrm>
            <a:off x="8778240" y="4800600"/>
            <a:ext cx="647029" cy="256032"/>
          </a:xfrm>
          <a:prstGeom prst="roundRect">
            <a:avLst>
              <a:gd name="adj" fmla="val 14286"/>
            </a:avLst>
          </a:prstGeom>
          <a:solidFill>
            <a:srgbClr val="E1562B"/>
          </a:solidFill>
          <a:ln/>
        </p:spPr>
      </p:sp>
      <p:sp>
        <p:nvSpPr>
          <p:cNvPr id="36" name="Shape 34"/>
          <p:cNvSpPr/>
          <p:nvPr/>
        </p:nvSpPr>
        <p:spPr>
          <a:xfrm>
            <a:off x="8778240" y="5349240"/>
            <a:ext cx="2651760" cy="0"/>
          </a:xfrm>
          <a:prstGeom prst="line">
            <a:avLst/>
          </a:prstGeom>
          <a:noFill/>
          <a:ln w="12700">
            <a:solidFill>
              <a:srgbClr val="3A5C7D"/>
            </a:solidFill>
            <a:prstDash val="solid"/>
          </a:ln>
        </p:spPr>
      </p:sp>
      <p:sp>
        <p:nvSpPr>
          <p:cNvPr id="37" name="Text 35"/>
          <p:cNvSpPr/>
          <p:nvPr/>
        </p:nvSpPr>
        <p:spPr>
          <a:xfrm>
            <a:off x="8778240" y="5486400"/>
            <a:ext cx="2651760" cy="502920"/>
          </a:xfrm>
          <a:prstGeom prst="rect">
            <a:avLst/>
          </a:prstGeom>
          <a:noFill/>
          <a:ln/>
        </p:spPr>
        <p:txBody>
          <a:bodyPr wrap="square" rtlCol="0" anchor="ctr"/>
          <a:lstStyle/>
          <a:p>
            <a:pPr indent="0" marL="0">
              <a:lnSpc>
                <a:spcPts val="1300"/>
              </a:lnSpc>
              <a:buNone/>
            </a:pPr>
            <a:r>
              <a:rPr lang="en-US" sz="1000" i="1" dirty="0">
                <a:solidFill>
                  <a:srgbClr val="AFC5D8"/>
                </a:solidFill>
                <a:latin typeface="Calibri" pitchFamily="34" charset="0"/>
                <a:ea typeface="Calibri" pitchFamily="34" charset="-122"/>
                <a:cs typeface="Calibri" pitchFamily="34" charset="-120"/>
              </a:rPr>
              <a:t>Rasio ±3:1 — layak digunakan untuk klasifikasi tanpa imbalance ekstrem.</a:t>
            </a:r>
            <a:endParaRPr lang="en-US" sz="1000" dirty="0"/>
          </a:p>
        </p:txBody>
      </p:sp>
      <p:sp>
        <p:nvSpPr>
          <p:cNvPr id="38" name="Text 36"/>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39" name="Text 37"/>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5C708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indent="0" marL="0">
              <a:buNone/>
            </a:pPr>
            <a:r>
              <a:rPr lang="en-US" sz="2500" b="1" dirty="0">
                <a:solidFill>
                  <a:srgbClr val="12314F"/>
                </a:solidFill>
                <a:latin typeface="Cambria" pitchFamily="34" charset="0"/>
                <a:ea typeface="Cambria" pitchFamily="34" charset="-122"/>
                <a:cs typeface="Cambria" pitchFamily="34" charset="-120"/>
              </a:rPr>
              <a:t>EDA — Churn Rate Berdasarkan Segmen Pelanggan</a:t>
            </a:r>
            <a:endParaRPr lang="en-US" sz="2500" dirty="0"/>
          </a:p>
        </p:txBody>
      </p:sp>
      <p:sp>
        <p:nvSpPr>
          <p:cNvPr id="3" name="Text 1"/>
          <p:cNvSpPr/>
          <p:nvPr/>
        </p:nvSpPr>
        <p:spPr>
          <a:xfrm>
            <a:off x="548640" y="1005840"/>
            <a:ext cx="9601200" cy="365760"/>
          </a:xfrm>
          <a:prstGeom prst="rect">
            <a:avLst/>
          </a:prstGeom>
          <a:noFill/>
          <a:ln/>
        </p:spPr>
        <p:txBody>
          <a:bodyPr wrap="square" rtlCol="0" anchor="ctr"/>
          <a:lstStyle/>
          <a:p>
            <a:pPr indent="0" marL="0">
              <a:buNone/>
            </a:pPr>
            <a:r>
              <a:rPr lang="en-US" sz="1300" dirty="0">
                <a:solidFill>
                  <a:srgbClr val="5C7086"/>
                </a:solidFill>
                <a:latin typeface="Calibri" pitchFamily="34" charset="0"/>
                <a:ea typeface="Calibri" pitchFamily="34" charset="-122"/>
                <a:cs typeface="Calibri" pitchFamily="34" charset="-120"/>
              </a:rPr>
              <a:t>Kontrak bulanan, non-autopay, dan paket lengkap menunjukkan churn rate yang lebih tinggi.</a:t>
            </a:r>
            <a:endParaRPr lang="en-US" sz="1300" dirty="0"/>
          </a:p>
        </p:txBody>
      </p:sp>
      <p:graphicFrame>
        <p:nvGraphicFramePr>
          <p:cNvPr id="4" name="Chart 0" descr=""/>
          <p:cNvGraphicFramePr/>
          <p:nvPr/>
        </p:nvGraphicFramePr>
        <p:xfrm>
          <a:off x="548640" y="1554480"/>
          <a:ext cx="539496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554480"/>
          <a:ext cx="5394960" cy="23774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4160520"/>
            <a:ext cx="11064240" cy="1920240"/>
          </a:xfrm>
          <a:prstGeom prst="roundRect">
            <a:avLst>
              <a:gd name="adj" fmla="val 3810"/>
            </a:avLst>
          </a:prstGeom>
          <a:solidFill>
            <a:srgbClr val="EAF1F7"/>
          </a:solidFill>
          <a:ln/>
        </p:spPr>
      </p:sp>
      <p:sp>
        <p:nvSpPr>
          <p:cNvPr id="7" name="Shape 3"/>
          <p:cNvSpPr/>
          <p:nvPr/>
        </p:nvSpPr>
        <p:spPr>
          <a:xfrm>
            <a:off x="868680" y="4434840"/>
            <a:ext cx="502920" cy="502920"/>
          </a:xfrm>
          <a:prstGeom prst="ellipse">
            <a:avLst/>
          </a:prstGeom>
          <a:solidFill>
            <a:srgbClr val="12314F"/>
          </a:solidFill>
          <a:ln/>
        </p:spPr>
      </p:sp>
      <p:pic>
        <p:nvPicPr>
          <p:cNvPr id="8" name="Image 0" descr="/home/claude/churn_ppt/icons/contract.png">    </p:cNvPr>
          <p:cNvPicPr>
            <a:picLocks noChangeAspect="1"/>
          </p:cNvPicPr>
          <p:nvPr/>
        </p:nvPicPr>
        <p:blipFill>
          <a:blip r:embed="rId3"/>
          <a:stretch>
            <a:fillRect/>
          </a:stretch>
        </p:blipFill>
        <p:spPr>
          <a:xfrm>
            <a:off x="981837" y="4547997"/>
            <a:ext cx="276606" cy="276606"/>
          </a:xfrm>
          <a:prstGeom prst="rect">
            <a:avLst/>
          </a:prstGeom>
        </p:spPr>
      </p:pic>
      <p:sp>
        <p:nvSpPr>
          <p:cNvPr id="9" name="Text 4"/>
          <p:cNvSpPr/>
          <p:nvPr/>
        </p:nvSpPr>
        <p:spPr>
          <a:xfrm>
            <a:off x="1554480" y="4343400"/>
            <a:ext cx="4572000" cy="1554480"/>
          </a:xfrm>
          <a:prstGeom prst="rect">
            <a:avLst/>
          </a:prstGeom>
          <a:noFill/>
          <a:ln/>
        </p:spPr>
        <p:txBody>
          <a:bodyPr wrap="square" rtlCol="0" anchor="ctr"/>
          <a:lstStyle/>
          <a:p>
            <a:pPr indent="0" marL="0">
              <a:lnSpc>
                <a:spcPts val="1700"/>
              </a:lnSpc>
              <a:buNone/>
            </a:pPr>
            <a:r>
              <a:rPr lang="en-US" sz="1200" dirty="0">
                <a:solidFill>
                  <a:srgbClr val="1B2B3A"/>
                </a:solidFill>
                <a:latin typeface="Calibri" pitchFamily="34" charset="0"/>
                <a:ea typeface="Calibri" pitchFamily="34" charset="-122"/>
                <a:cs typeface="Calibri" pitchFamily="34" charset="-120"/>
              </a:rPr>
              <a:t>Pelanggan Monthly memiliki churn rate hampir 2x lipat dibanding Annual — komitmen jangka pendek membuat pelanggan lebih mudah berpindah ke kompetitor.</a:t>
            </a:r>
            <a:endParaRPr lang="en-US" sz="1200" dirty="0"/>
          </a:p>
        </p:txBody>
      </p:sp>
      <p:sp>
        <p:nvSpPr>
          <p:cNvPr id="10" name="Shape 5"/>
          <p:cNvSpPr/>
          <p:nvPr/>
        </p:nvSpPr>
        <p:spPr>
          <a:xfrm>
            <a:off x="6400800" y="4434840"/>
            <a:ext cx="502920" cy="502920"/>
          </a:xfrm>
          <a:prstGeom prst="ellipse">
            <a:avLst/>
          </a:prstGeom>
          <a:solidFill>
            <a:srgbClr val="12314F"/>
          </a:solidFill>
          <a:ln/>
        </p:spPr>
      </p:sp>
      <p:pic>
        <p:nvPicPr>
          <p:cNvPr id="11" name="Image 1" descr="/home/claude/churn_ppt/icons/creditcard.png">    </p:cNvPr>
          <p:cNvPicPr>
            <a:picLocks noChangeAspect="1"/>
          </p:cNvPicPr>
          <p:nvPr/>
        </p:nvPicPr>
        <p:blipFill>
          <a:blip r:embed="rId4"/>
          <a:stretch>
            <a:fillRect/>
          </a:stretch>
        </p:blipFill>
        <p:spPr>
          <a:xfrm>
            <a:off x="6513957" y="4547997"/>
            <a:ext cx="276606" cy="276606"/>
          </a:xfrm>
          <a:prstGeom prst="rect">
            <a:avLst/>
          </a:prstGeom>
        </p:spPr>
      </p:pic>
      <p:sp>
        <p:nvSpPr>
          <p:cNvPr id="12" name="Text 6"/>
          <p:cNvSpPr/>
          <p:nvPr/>
        </p:nvSpPr>
        <p:spPr>
          <a:xfrm>
            <a:off x="7086600" y="4343400"/>
            <a:ext cx="4297680" cy="1554480"/>
          </a:xfrm>
          <a:prstGeom prst="rect">
            <a:avLst/>
          </a:prstGeom>
          <a:noFill/>
          <a:ln/>
        </p:spPr>
        <p:txBody>
          <a:bodyPr wrap="square" rtlCol="0" anchor="ctr"/>
          <a:lstStyle/>
          <a:p>
            <a:pPr indent="0" marL="0">
              <a:lnSpc>
                <a:spcPts val="1700"/>
              </a:lnSpc>
              <a:buNone/>
            </a:pPr>
            <a:r>
              <a:rPr lang="en-US" sz="1200" dirty="0">
                <a:solidFill>
                  <a:srgbClr val="1B2B3A"/>
                </a:solidFill>
                <a:latin typeface="Calibri" pitchFamily="34" charset="0"/>
                <a:ea typeface="Calibri" pitchFamily="34" charset="-122"/>
                <a:cs typeface="Calibri" pitchFamily="34" charset="-120"/>
              </a:rPr>
              <a:t>Pelanggan tanpa Autopay lebih rentan churn — proses pembayaran manual berpotensi menimbulkan hambatan yang meningkatkan risiko berhenti berlangganan.</a:t>
            </a:r>
            <a:endParaRPr lang="en-US" sz="1200" dirty="0"/>
          </a:p>
        </p:txBody>
      </p:sp>
      <p:sp>
        <p:nvSpPr>
          <p:cNvPr id="13" name="Text 7"/>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14" name="Text 8"/>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5C708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14F"/>
        </a:solidFill>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Feature Engineering — Fitur Turunan</a:t>
            </a:r>
            <a:endParaRPr lang="en-US" sz="2500" dirty="0"/>
          </a:p>
        </p:txBody>
      </p:sp>
      <p:sp>
        <p:nvSpPr>
          <p:cNvPr id="3" name="Text 1"/>
          <p:cNvSpPr/>
          <p:nvPr/>
        </p:nvSpPr>
        <p:spPr>
          <a:xfrm>
            <a:off x="548640" y="1005840"/>
            <a:ext cx="9601200" cy="365760"/>
          </a:xfrm>
          <a:prstGeom prst="rect">
            <a:avLst/>
          </a:prstGeom>
          <a:noFill/>
          <a:ln/>
        </p:spPr>
        <p:txBody>
          <a:bodyPr wrap="square" rtlCol="0" anchor="ctr"/>
          <a:lstStyle/>
          <a:p>
            <a:pPr indent="0" marL="0">
              <a:buNone/>
            </a:pPr>
            <a:r>
              <a:rPr lang="en-US" sz="1300" dirty="0">
                <a:solidFill>
                  <a:srgbClr val="C7D8E6"/>
                </a:solidFill>
                <a:latin typeface="Calibri" pitchFamily="34" charset="0"/>
                <a:ea typeface="Calibri" pitchFamily="34" charset="-122"/>
                <a:cs typeface="Calibri" pitchFamily="34" charset="-120"/>
              </a:rPr>
              <a:t>Fitur baru dibuat untuk merepresentasikan perilaku pelanggan secara lebih informatif dibanding data mentah.</a:t>
            </a:r>
            <a:endParaRPr lang="en-US" sz="1300" dirty="0"/>
          </a:p>
        </p:txBody>
      </p:sp>
      <p:sp>
        <p:nvSpPr>
          <p:cNvPr id="4" name="Shape 2"/>
          <p:cNvSpPr/>
          <p:nvPr/>
        </p:nvSpPr>
        <p:spPr>
          <a:xfrm>
            <a:off x="548640" y="1691640"/>
            <a:ext cx="11064240" cy="1234440"/>
          </a:xfrm>
          <a:prstGeom prst="roundRect">
            <a:avLst>
              <a:gd name="adj" fmla="val 5926"/>
            </a:avLst>
          </a:prstGeom>
          <a:solidFill>
            <a:srgbClr val="1A3E60"/>
          </a:solidFill>
          <a:ln/>
        </p:spPr>
      </p:sp>
      <p:sp>
        <p:nvSpPr>
          <p:cNvPr id="5" name="Shape 3"/>
          <p:cNvSpPr/>
          <p:nvPr/>
        </p:nvSpPr>
        <p:spPr>
          <a:xfrm>
            <a:off x="822960" y="2057400"/>
            <a:ext cx="502920" cy="502920"/>
          </a:xfrm>
          <a:prstGeom prst="ellipse">
            <a:avLst/>
          </a:prstGeom>
          <a:solidFill>
            <a:srgbClr val="E1562B"/>
          </a:solidFill>
          <a:ln/>
        </p:spPr>
      </p:sp>
      <p:pic>
        <p:nvPicPr>
          <p:cNvPr id="6" name="Image 0" descr="/home/claude/churn_ppt/icons/cogs.png">    </p:cNvPr>
          <p:cNvPicPr>
            <a:picLocks noChangeAspect="1"/>
          </p:cNvPicPr>
          <p:nvPr/>
        </p:nvPicPr>
        <p:blipFill>
          <a:blip r:embed="rId1"/>
          <a:stretch>
            <a:fillRect/>
          </a:stretch>
        </p:blipFill>
        <p:spPr>
          <a:xfrm>
            <a:off x="936117" y="2170557"/>
            <a:ext cx="276606" cy="276606"/>
          </a:xfrm>
          <a:prstGeom prst="rect">
            <a:avLst/>
          </a:prstGeom>
        </p:spPr>
      </p:pic>
      <p:sp>
        <p:nvSpPr>
          <p:cNvPr id="7" name="Text 4"/>
          <p:cNvSpPr/>
          <p:nvPr/>
        </p:nvSpPr>
        <p:spPr>
          <a:xfrm>
            <a:off x="1508760" y="1828800"/>
            <a:ext cx="292608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charge_per_mbps</a:t>
            </a:r>
            <a:endParaRPr lang="en-US" sz="1350" dirty="0"/>
          </a:p>
        </p:txBody>
      </p:sp>
      <p:sp>
        <p:nvSpPr>
          <p:cNvPr id="8" name="Text 5"/>
          <p:cNvSpPr/>
          <p:nvPr/>
        </p:nvSpPr>
        <p:spPr>
          <a:xfrm>
            <a:off x="1508760" y="2240280"/>
            <a:ext cx="2926080" cy="548640"/>
          </a:xfrm>
          <a:prstGeom prst="rect">
            <a:avLst/>
          </a:prstGeom>
          <a:noFill/>
          <a:ln/>
        </p:spPr>
        <p:txBody>
          <a:bodyPr wrap="square" rtlCol="0" anchor="ctr"/>
          <a:lstStyle/>
          <a:p>
            <a:pPr indent="0" marL="0">
              <a:buNone/>
            </a:pPr>
            <a:r>
              <a:rPr lang="en-US" sz="1000" dirty="0">
                <a:solidFill>
                  <a:srgbClr val="8FA7BE"/>
                </a:solidFill>
                <a:latin typeface="Courier New" pitchFamily="34" charset="0"/>
                <a:ea typeface="Courier New" pitchFamily="34" charset="-122"/>
                <a:cs typeface="Courier New" pitchFamily="34" charset="-120"/>
              </a:rPr>
              <a:t>monthly_charge / speed_mbps</a:t>
            </a:r>
            <a:endParaRPr lang="en-US" sz="1000" dirty="0"/>
          </a:p>
        </p:txBody>
      </p:sp>
      <p:sp>
        <p:nvSpPr>
          <p:cNvPr id="9" name="Text 6"/>
          <p:cNvSpPr/>
          <p:nvPr/>
        </p:nvSpPr>
        <p:spPr>
          <a:xfrm>
            <a:off x="4663440" y="1828800"/>
            <a:ext cx="6675120" cy="960120"/>
          </a:xfrm>
          <a:prstGeom prst="rect">
            <a:avLst/>
          </a:prstGeom>
          <a:noFill/>
          <a:ln/>
        </p:spPr>
        <p:txBody>
          <a:bodyPr wrap="square" rtlCol="0" anchor="ctr"/>
          <a:lstStyle/>
          <a:p>
            <a:pPr indent="0" marL="0">
              <a:lnSpc>
                <a:spcPts val="1700"/>
              </a:lnSpc>
              <a:buNone/>
            </a:pPr>
            <a:r>
              <a:rPr lang="en-US" sz="1250" dirty="0">
                <a:solidFill>
                  <a:srgbClr val="C7D8E6"/>
                </a:solidFill>
                <a:latin typeface="Calibri" pitchFamily="34" charset="0"/>
                <a:ea typeface="Calibri" pitchFamily="34" charset="-122"/>
                <a:cs typeface="Calibri" pitchFamily="34" charset="-120"/>
              </a:rPr>
              <a:t>Mengukur value for money — biaya per unit kecepatan.</a:t>
            </a:r>
            <a:endParaRPr lang="en-US" sz="1250" dirty="0"/>
          </a:p>
        </p:txBody>
      </p:sp>
      <p:sp>
        <p:nvSpPr>
          <p:cNvPr id="10" name="Shape 7"/>
          <p:cNvSpPr/>
          <p:nvPr/>
        </p:nvSpPr>
        <p:spPr>
          <a:xfrm>
            <a:off x="548640" y="3108960"/>
            <a:ext cx="11064240" cy="1234440"/>
          </a:xfrm>
          <a:prstGeom prst="roundRect">
            <a:avLst>
              <a:gd name="adj" fmla="val 5926"/>
            </a:avLst>
          </a:prstGeom>
          <a:solidFill>
            <a:srgbClr val="1A3E60"/>
          </a:solidFill>
          <a:ln/>
        </p:spPr>
      </p:sp>
      <p:sp>
        <p:nvSpPr>
          <p:cNvPr id="11" name="Shape 8"/>
          <p:cNvSpPr/>
          <p:nvPr/>
        </p:nvSpPr>
        <p:spPr>
          <a:xfrm>
            <a:off x="822960" y="3474720"/>
            <a:ext cx="502920" cy="502920"/>
          </a:xfrm>
          <a:prstGeom prst="ellipse">
            <a:avLst/>
          </a:prstGeom>
          <a:solidFill>
            <a:srgbClr val="E1562B"/>
          </a:solidFill>
          <a:ln/>
        </p:spPr>
      </p:sp>
      <p:pic>
        <p:nvPicPr>
          <p:cNvPr id="12" name="Image 1" descr="/home/claude/churn_ppt/icons/cogs.png">    </p:cNvPr>
          <p:cNvPicPr>
            <a:picLocks noChangeAspect="1"/>
          </p:cNvPicPr>
          <p:nvPr/>
        </p:nvPicPr>
        <p:blipFill>
          <a:blip r:embed="rId2"/>
          <a:stretch>
            <a:fillRect/>
          </a:stretch>
        </p:blipFill>
        <p:spPr>
          <a:xfrm>
            <a:off x="936117" y="3587877"/>
            <a:ext cx="276606" cy="276606"/>
          </a:xfrm>
          <a:prstGeom prst="rect">
            <a:avLst/>
          </a:prstGeom>
        </p:spPr>
      </p:pic>
      <p:sp>
        <p:nvSpPr>
          <p:cNvPr id="13" name="Text 9"/>
          <p:cNvSpPr/>
          <p:nvPr/>
        </p:nvSpPr>
        <p:spPr>
          <a:xfrm>
            <a:off x="1508760" y="3246120"/>
            <a:ext cx="292608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downtime_per_tenure</a:t>
            </a:r>
            <a:endParaRPr lang="en-US" sz="1350" dirty="0"/>
          </a:p>
        </p:txBody>
      </p:sp>
      <p:sp>
        <p:nvSpPr>
          <p:cNvPr id="14" name="Text 10"/>
          <p:cNvSpPr/>
          <p:nvPr/>
        </p:nvSpPr>
        <p:spPr>
          <a:xfrm>
            <a:off x="1508760" y="3657600"/>
            <a:ext cx="2926080" cy="548640"/>
          </a:xfrm>
          <a:prstGeom prst="rect">
            <a:avLst/>
          </a:prstGeom>
          <a:noFill/>
          <a:ln/>
        </p:spPr>
        <p:txBody>
          <a:bodyPr wrap="square" rtlCol="0" anchor="ctr"/>
          <a:lstStyle/>
          <a:p>
            <a:pPr indent="0" marL="0">
              <a:buNone/>
            </a:pPr>
            <a:r>
              <a:rPr lang="en-US" sz="1000" dirty="0">
                <a:solidFill>
                  <a:srgbClr val="8FA7BE"/>
                </a:solidFill>
                <a:latin typeface="Courier New" pitchFamily="34" charset="0"/>
                <a:ea typeface="Courier New" pitchFamily="34" charset="-122"/>
                <a:cs typeface="Courier New" pitchFamily="34" charset="-120"/>
              </a:rPr>
              <a:t>downtime_hours / (tenure_months + 1)</a:t>
            </a:r>
            <a:endParaRPr lang="en-US" sz="1000" dirty="0"/>
          </a:p>
        </p:txBody>
      </p:sp>
      <p:sp>
        <p:nvSpPr>
          <p:cNvPr id="15" name="Text 11"/>
          <p:cNvSpPr/>
          <p:nvPr/>
        </p:nvSpPr>
        <p:spPr>
          <a:xfrm>
            <a:off x="4663440" y="3246120"/>
            <a:ext cx="6675120" cy="960120"/>
          </a:xfrm>
          <a:prstGeom prst="rect">
            <a:avLst/>
          </a:prstGeom>
          <a:noFill/>
          <a:ln/>
        </p:spPr>
        <p:txBody>
          <a:bodyPr wrap="square" rtlCol="0" anchor="ctr"/>
          <a:lstStyle/>
          <a:p>
            <a:pPr indent="0" marL="0">
              <a:lnSpc>
                <a:spcPts val="1700"/>
              </a:lnSpc>
              <a:buNone/>
            </a:pPr>
            <a:r>
              <a:rPr lang="en-US" sz="1250" dirty="0">
                <a:solidFill>
                  <a:srgbClr val="C7D8E6"/>
                </a:solidFill>
                <a:latin typeface="Calibri" pitchFamily="34" charset="0"/>
                <a:ea typeface="Calibri" pitchFamily="34" charset="-122"/>
                <a:cs typeface="Calibri" pitchFamily="34" charset="-120"/>
              </a:rPr>
              <a:t>Gangguan layanan relatif terhadap lama berlangganan.</a:t>
            </a:r>
            <a:endParaRPr lang="en-US" sz="1250" dirty="0"/>
          </a:p>
        </p:txBody>
      </p:sp>
      <p:sp>
        <p:nvSpPr>
          <p:cNvPr id="16" name="Shape 12"/>
          <p:cNvSpPr/>
          <p:nvPr/>
        </p:nvSpPr>
        <p:spPr>
          <a:xfrm>
            <a:off x="548640" y="4526280"/>
            <a:ext cx="11064240" cy="1234440"/>
          </a:xfrm>
          <a:prstGeom prst="roundRect">
            <a:avLst>
              <a:gd name="adj" fmla="val 5926"/>
            </a:avLst>
          </a:prstGeom>
          <a:solidFill>
            <a:srgbClr val="1A3E60"/>
          </a:solidFill>
          <a:ln/>
        </p:spPr>
      </p:sp>
      <p:sp>
        <p:nvSpPr>
          <p:cNvPr id="17" name="Shape 13"/>
          <p:cNvSpPr/>
          <p:nvPr/>
        </p:nvSpPr>
        <p:spPr>
          <a:xfrm>
            <a:off x="822960" y="4892040"/>
            <a:ext cx="502920" cy="502920"/>
          </a:xfrm>
          <a:prstGeom prst="ellipse">
            <a:avLst/>
          </a:prstGeom>
          <a:solidFill>
            <a:srgbClr val="E1562B"/>
          </a:solidFill>
          <a:ln/>
        </p:spPr>
      </p:sp>
      <p:pic>
        <p:nvPicPr>
          <p:cNvPr id="18" name="Image 2" descr="/home/claude/churn_ppt/icons/cogs.png">    </p:cNvPr>
          <p:cNvPicPr>
            <a:picLocks noChangeAspect="1"/>
          </p:cNvPicPr>
          <p:nvPr/>
        </p:nvPicPr>
        <p:blipFill>
          <a:blip r:embed="rId3"/>
          <a:stretch>
            <a:fillRect/>
          </a:stretch>
        </p:blipFill>
        <p:spPr>
          <a:xfrm>
            <a:off x="936117" y="5005197"/>
            <a:ext cx="276606" cy="276606"/>
          </a:xfrm>
          <a:prstGeom prst="rect">
            <a:avLst/>
          </a:prstGeom>
        </p:spPr>
      </p:pic>
      <p:sp>
        <p:nvSpPr>
          <p:cNvPr id="19" name="Text 14"/>
          <p:cNvSpPr/>
          <p:nvPr/>
        </p:nvSpPr>
        <p:spPr>
          <a:xfrm>
            <a:off x="1508760" y="4663440"/>
            <a:ext cx="292608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support_per_tenure</a:t>
            </a:r>
            <a:endParaRPr lang="en-US" sz="1350" dirty="0"/>
          </a:p>
        </p:txBody>
      </p:sp>
      <p:sp>
        <p:nvSpPr>
          <p:cNvPr id="20" name="Text 15"/>
          <p:cNvSpPr/>
          <p:nvPr/>
        </p:nvSpPr>
        <p:spPr>
          <a:xfrm>
            <a:off x="1508760" y="5074920"/>
            <a:ext cx="2926080" cy="548640"/>
          </a:xfrm>
          <a:prstGeom prst="rect">
            <a:avLst/>
          </a:prstGeom>
          <a:noFill/>
          <a:ln/>
        </p:spPr>
        <p:txBody>
          <a:bodyPr wrap="square" rtlCol="0" anchor="ctr"/>
          <a:lstStyle/>
          <a:p>
            <a:pPr indent="0" marL="0">
              <a:buNone/>
            </a:pPr>
            <a:r>
              <a:rPr lang="en-US" sz="1000" dirty="0">
                <a:solidFill>
                  <a:srgbClr val="8FA7BE"/>
                </a:solidFill>
                <a:latin typeface="Courier New" pitchFamily="34" charset="0"/>
                <a:ea typeface="Courier New" pitchFamily="34" charset="-122"/>
                <a:cs typeface="Courier New" pitchFamily="34" charset="-120"/>
              </a:rPr>
              <a:t>support_calls / (tenure_months + 1)</a:t>
            </a:r>
            <a:endParaRPr lang="en-US" sz="1000" dirty="0"/>
          </a:p>
        </p:txBody>
      </p:sp>
      <p:sp>
        <p:nvSpPr>
          <p:cNvPr id="21" name="Text 16"/>
          <p:cNvSpPr/>
          <p:nvPr/>
        </p:nvSpPr>
        <p:spPr>
          <a:xfrm>
            <a:off x="4663440" y="4663440"/>
            <a:ext cx="6675120" cy="960120"/>
          </a:xfrm>
          <a:prstGeom prst="rect">
            <a:avLst/>
          </a:prstGeom>
          <a:noFill/>
          <a:ln/>
        </p:spPr>
        <p:txBody>
          <a:bodyPr wrap="square" rtlCol="0" anchor="ctr"/>
          <a:lstStyle/>
          <a:p>
            <a:pPr indent="0" marL="0">
              <a:lnSpc>
                <a:spcPts val="1700"/>
              </a:lnSpc>
              <a:buNone/>
            </a:pPr>
            <a:r>
              <a:rPr lang="en-US" sz="1250" dirty="0">
                <a:solidFill>
                  <a:srgbClr val="C7D8E6"/>
                </a:solidFill>
                <a:latin typeface="Calibri" pitchFamily="34" charset="0"/>
                <a:ea typeface="Calibri" pitchFamily="34" charset="-122"/>
                <a:cs typeface="Calibri" pitchFamily="34" charset="-120"/>
              </a:rPr>
              <a:t>Intensitas keluhan pelanggan secara proporsional.</a:t>
            </a:r>
            <a:endParaRPr lang="en-US" sz="1250" dirty="0"/>
          </a:p>
        </p:txBody>
      </p:sp>
      <p:sp>
        <p:nvSpPr>
          <p:cNvPr id="22" name="Text 17"/>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8FA7BE"/>
                </a:solidFill>
                <a:latin typeface="Calibri" pitchFamily="34" charset="0"/>
                <a:ea typeface="Calibri" pitchFamily="34" charset="-122"/>
                <a:cs typeface="Calibri" pitchFamily="34" charset="-120"/>
              </a:rPr>
              <a:t>PT ABC — Customer Churn Prediction</a:t>
            </a:r>
            <a:endParaRPr lang="en-US" sz="900" dirty="0"/>
          </a:p>
        </p:txBody>
      </p:sp>
      <p:sp>
        <p:nvSpPr>
          <p:cNvPr id="23" name="Text 18"/>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8FA7B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indent="0" marL="0">
              <a:buNone/>
            </a:pPr>
            <a:r>
              <a:rPr lang="en-US" sz="2400" b="1" dirty="0">
                <a:solidFill>
                  <a:srgbClr val="12314F"/>
                </a:solidFill>
                <a:latin typeface="Cambria" pitchFamily="34" charset="0"/>
                <a:ea typeface="Cambria" pitchFamily="34" charset="-122"/>
                <a:cs typeface="Cambria" pitchFamily="34" charset="-120"/>
              </a:rPr>
              <a:t>Model Training — XGBoost &amp; Hyperparameter Tuning</a:t>
            </a:r>
            <a:endParaRPr lang="en-US" sz="2400" dirty="0"/>
          </a:p>
        </p:txBody>
      </p:sp>
      <p:sp>
        <p:nvSpPr>
          <p:cNvPr id="3" name="Shape 1"/>
          <p:cNvSpPr/>
          <p:nvPr/>
        </p:nvSpPr>
        <p:spPr>
          <a:xfrm>
            <a:off x="548640" y="1234440"/>
            <a:ext cx="5303520" cy="4846320"/>
          </a:xfrm>
          <a:prstGeom prst="roundRect">
            <a:avLst>
              <a:gd name="adj" fmla="val 1509"/>
            </a:avLst>
          </a:prstGeom>
          <a:solidFill>
            <a:srgbClr val="EAF1F7"/>
          </a:solidFill>
          <a:ln/>
        </p:spPr>
      </p:sp>
      <p:sp>
        <p:nvSpPr>
          <p:cNvPr id="4" name="Shape 2"/>
          <p:cNvSpPr/>
          <p:nvPr/>
        </p:nvSpPr>
        <p:spPr>
          <a:xfrm>
            <a:off x="868680" y="1508760"/>
            <a:ext cx="548640" cy="548640"/>
          </a:xfrm>
          <a:prstGeom prst="ellipse">
            <a:avLst/>
          </a:prstGeom>
          <a:solidFill>
            <a:srgbClr val="12314F"/>
          </a:solidFill>
          <a:ln/>
        </p:spPr>
      </p:sp>
      <p:pic>
        <p:nvPicPr>
          <p:cNvPr id="5" name="Image 0" descr="/home/claude/churn_ppt/icons/brain.png">    </p:cNvPr>
          <p:cNvPicPr>
            <a:picLocks noChangeAspect="1"/>
          </p:cNvPicPr>
          <p:nvPr/>
        </p:nvPicPr>
        <p:blipFill>
          <a:blip r:embed="rId1"/>
          <a:stretch>
            <a:fillRect/>
          </a:stretch>
        </p:blipFill>
        <p:spPr>
          <a:xfrm>
            <a:off x="1005840" y="1645920"/>
            <a:ext cx="274320" cy="274320"/>
          </a:xfrm>
          <a:prstGeom prst="rect">
            <a:avLst/>
          </a:prstGeom>
        </p:spPr>
      </p:pic>
      <p:sp>
        <p:nvSpPr>
          <p:cNvPr id="6" name="Text 3"/>
          <p:cNvSpPr/>
          <p:nvPr/>
        </p:nvSpPr>
        <p:spPr>
          <a:xfrm>
            <a:off x="1554480" y="1554480"/>
            <a:ext cx="4114800" cy="457200"/>
          </a:xfrm>
          <a:prstGeom prst="rect">
            <a:avLst/>
          </a:prstGeom>
          <a:noFill/>
          <a:ln/>
        </p:spPr>
        <p:txBody>
          <a:bodyPr wrap="square" rtlCol="0" anchor="ctr"/>
          <a:lstStyle/>
          <a:p>
            <a:pPr indent="0" marL="0">
              <a:buNone/>
            </a:pPr>
            <a:r>
              <a:rPr lang="en-US" sz="1500" b="1" dirty="0">
                <a:solidFill>
                  <a:srgbClr val="12314F"/>
                </a:solidFill>
                <a:latin typeface="Calibri" pitchFamily="34" charset="0"/>
                <a:ea typeface="Calibri" pitchFamily="34" charset="-122"/>
                <a:cs typeface="Calibri" pitchFamily="34" charset="-120"/>
              </a:rPr>
              <a:t>Mengapa XGBoost?</a:t>
            </a:r>
            <a:endParaRPr lang="en-US" sz="1500" dirty="0"/>
          </a:p>
        </p:txBody>
      </p:sp>
      <p:sp>
        <p:nvSpPr>
          <p:cNvPr id="7" name="Shape 4"/>
          <p:cNvSpPr/>
          <p:nvPr/>
        </p:nvSpPr>
        <p:spPr>
          <a:xfrm>
            <a:off x="868680" y="2304288"/>
            <a:ext cx="91440" cy="91440"/>
          </a:xfrm>
          <a:prstGeom prst="ellipse">
            <a:avLst/>
          </a:prstGeom>
          <a:solidFill>
            <a:srgbClr val="E1562B"/>
          </a:solidFill>
          <a:ln/>
        </p:spPr>
      </p:sp>
      <p:sp>
        <p:nvSpPr>
          <p:cNvPr id="8" name="Text 5"/>
          <p:cNvSpPr/>
          <p:nvPr/>
        </p:nvSpPr>
        <p:spPr>
          <a:xfrm>
            <a:off x="1097280" y="2167128"/>
            <a:ext cx="4572000" cy="411480"/>
          </a:xfrm>
          <a:prstGeom prst="rect">
            <a:avLst/>
          </a:prstGeom>
          <a:noFill/>
          <a:ln/>
        </p:spPr>
        <p:txBody>
          <a:bodyPr wrap="square" rtlCol="0" anchor="ctr"/>
          <a:lstStyle/>
          <a:p>
            <a:pPr indent="0" marL="0">
              <a:buNone/>
            </a:pPr>
            <a:r>
              <a:rPr lang="en-US" sz="1250" dirty="0">
                <a:solidFill>
                  <a:srgbClr val="1B2B3A"/>
                </a:solidFill>
                <a:latin typeface="Calibri" pitchFamily="34" charset="0"/>
                <a:ea typeface="Calibri" pitchFamily="34" charset="-122"/>
                <a:cs typeface="Calibri" pitchFamily="34" charset="-120"/>
              </a:rPr>
              <a:t>Performa tinggi pada data tabular</a:t>
            </a:r>
            <a:endParaRPr lang="en-US" sz="1250" dirty="0"/>
          </a:p>
        </p:txBody>
      </p:sp>
      <p:sp>
        <p:nvSpPr>
          <p:cNvPr id="9" name="Shape 6"/>
          <p:cNvSpPr/>
          <p:nvPr/>
        </p:nvSpPr>
        <p:spPr>
          <a:xfrm>
            <a:off x="868680" y="2926080"/>
            <a:ext cx="91440" cy="91440"/>
          </a:xfrm>
          <a:prstGeom prst="ellipse">
            <a:avLst/>
          </a:prstGeom>
          <a:solidFill>
            <a:srgbClr val="E1562B"/>
          </a:solidFill>
          <a:ln/>
        </p:spPr>
      </p:sp>
      <p:sp>
        <p:nvSpPr>
          <p:cNvPr id="10" name="Text 7"/>
          <p:cNvSpPr/>
          <p:nvPr/>
        </p:nvSpPr>
        <p:spPr>
          <a:xfrm>
            <a:off x="1097280" y="2788920"/>
            <a:ext cx="4572000" cy="411480"/>
          </a:xfrm>
          <a:prstGeom prst="rect">
            <a:avLst/>
          </a:prstGeom>
          <a:noFill/>
          <a:ln/>
        </p:spPr>
        <p:txBody>
          <a:bodyPr wrap="square" rtlCol="0" anchor="ctr"/>
          <a:lstStyle/>
          <a:p>
            <a:pPr indent="0" marL="0">
              <a:buNone/>
            </a:pPr>
            <a:r>
              <a:rPr lang="en-US" sz="1250" dirty="0">
                <a:solidFill>
                  <a:srgbClr val="1B2B3A"/>
                </a:solidFill>
                <a:latin typeface="Calibri" pitchFamily="34" charset="0"/>
                <a:ea typeface="Calibri" pitchFamily="34" charset="-122"/>
                <a:cs typeface="Calibri" pitchFamily="34" charset="-120"/>
              </a:rPr>
              <a:t>Menangani hubungan non-linear antar fitur</a:t>
            </a:r>
            <a:endParaRPr lang="en-US" sz="1250" dirty="0"/>
          </a:p>
        </p:txBody>
      </p:sp>
      <p:sp>
        <p:nvSpPr>
          <p:cNvPr id="11" name="Shape 8"/>
          <p:cNvSpPr/>
          <p:nvPr/>
        </p:nvSpPr>
        <p:spPr>
          <a:xfrm>
            <a:off x="868680" y="3547872"/>
            <a:ext cx="91440" cy="91440"/>
          </a:xfrm>
          <a:prstGeom prst="ellipse">
            <a:avLst/>
          </a:prstGeom>
          <a:solidFill>
            <a:srgbClr val="E1562B"/>
          </a:solidFill>
          <a:ln/>
        </p:spPr>
      </p:sp>
      <p:sp>
        <p:nvSpPr>
          <p:cNvPr id="12" name="Text 9"/>
          <p:cNvSpPr/>
          <p:nvPr/>
        </p:nvSpPr>
        <p:spPr>
          <a:xfrm>
            <a:off x="1097280" y="3410712"/>
            <a:ext cx="4572000" cy="411480"/>
          </a:xfrm>
          <a:prstGeom prst="rect">
            <a:avLst/>
          </a:prstGeom>
          <a:noFill/>
          <a:ln/>
        </p:spPr>
        <p:txBody>
          <a:bodyPr wrap="square" rtlCol="0" anchor="ctr"/>
          <a:lstStyle/>
          <a:p>
            <a:pPr indent="0" marL="0">
              <a:buNone/>
            </a:pPr>
            <a:r>
              <a:rPr lang="en-US" sz="1250" dirty="0">
                <a:solidFill>
                  <a:srgbClr val="1B2B3A"/>
                </a:solidFill>
                <a:latin typeface="Calibri" pitchFamily="34" charset="0"/>
                <a:ea typeface="Calibri" pitchFamily="34" charset="-122"/>
                <a:cs typeface="Calibri" pitchFamily="34" charset="-120"/>
              </a:rPr>
              <a:t>Regularisasi L1 &amp; L2 mengurangi overfitting</a:t>
            </a:r>
            <a:endParaRPr lang="en-US" sz="1250" dirty="0"/>
          </a:p>
        </p:txBody>
      </p:sp>
      <p:sp>
        <p:nvSpPr>
          <p:cNvPr id="13" name="Shape 10"/>
          <p:cNvSpPr/>
          <p:nvPr/>
        </p:nvSpPr>
        <p:spPr>
          <a:xfrm>
            <a:off x="868680" y="4169664"/>
            <a:ext cx="91440" cy="91440"/>
          </a:xfrm>
          <a:prstGeom prst="ellipse">
            <a:avLst/>
          </a:prstGeom>
          <a:solidFill>
            <a:srgbClr val="E1562B"/>
          </a:solidFill>
          <a:ln/>
        </p:spPr>
      </p:sp>
      <p:sp>
        <p:nvSpPr>
          <p:cNvPr id="14" name="Text 11"/>
          <p:cNvSpPr/>
          <p:nvPr/>
        </p:nvSpPr>
        <p:spPr>
          <a:xfrm>
            <a:off x="1097280" y="4032504"/>
            <a:ext cx="4572000" cy="411480"/>
          </a:xfrm>
          <a:prstGeom prst="rect">
            <a:avLst/>
          </a:prstGeom>
          <a:noFill/>
          <a:ln/>
        </p:spPr>
        <p:txBody>
          <a:bodyPr wrap="square" rtlCol="0" anchor="ctr"/>
          <a:lstStyle/>
          <a:p>
            <a:pPr indent="0" marL="0">
              <a:buNone/>
            </a:pPr>
            <a:r>
              <a:rPr lang="en-US" sz="1250" dirty="0">
                <a:solidFill>
                  <a:srgbClr val="1B2B3A"/>
                </a:solidFill>
                <a:latin typeface="Calibri" pitchFamily="34" charset="0"/>
                <a:ea typeface="Calibri" pitchFamily="34" charset="-122"/>
                <a:cs typeface="Calibri" pitchFamily="34" charset="-120"/>
              </a:rPr>
              <a:t>Training cepat &amp; efisien</a:t>
            </a:r>
            <a:endParaRPr lang="en-US" sz="1250" dirty="0"/>
          </a:p>
        </p:txBody>
      </p:sp>
      <p:sp>
        <p:nvSpPr>
          <p:cNvPr id="15" name="Shape 12"/>
          <p:cNvSpPr/>
          <p:nvPr/>
        </p:nvSpPr>
        <p:spPr>
          <a:xfrm>
            <a:off x="868680" y="4791456"/>
            <a:ext cx="91440" cy="91440"/>
          </a:xfrm>
          <a:prstGeom prst="ellipse">
            <a:avLst/>
          </a:prstGeom>
          <a:solidFill>
            <a:srgbClr val="E1562B"/>
          </a:solidFill>
          <a:ln/>
        </p:spPr>
      </p:sp>
      <p:sp>
        <p:nvSpPr>
          <p:cNvPr id="16" name="Text 13"/>
          <p:cNvSpPr/>
          <p:nvPr/>
        </p:nvSpPr>
        <p:spPr>
          <a:xfrm>
            <a:off x="1097280" y="4654296"/>
            <a:ext cx="4572000" cy="411480"/>
          </a:xfrm>
          <a:prstGeom prst="rect">
            <a:avLst/>
          </a:prstGeom>
          <a:noFill/>
          <a:ln/>
        </p:spPr>
        <p:txBody>
          <a:bodyPr wrap="square" rtlCol="0" anchor="ctr"/>
          <a:lstStyle/>
          <a:p>
            <a:pPr indent="0" marL="0">
              <a:buNone/>
            </a:pPr>
            <a:r>
              <a:rPr lang="en-US" sz="1250" dirty="0">
                <a:solidFill>
                  <a:srgbClr val="1B2B3A"/>
                </a:solidFill>
                <a:latin typeface="Calibri" pitchFamily="34" charset="0"/>
                <a:ea typeface="Calibri" pitchFamily="34" charset="-122"/>
                <a:cs typeface="Calibri" pitchFamily="34" charset="-120"/>
              </a:rPr>
              <a:t>Feature importance memudahkan interpretasi</a:t>
            </a:r>
            <a:endParaRPr lang="en-US" sz="1250" dirty="0"/>
          </a:p>
        </p:txBody>
      </p:sp>
      <p:sp>
        <p:nvSpPr>
          <p:cNvPr id="17" name="Shape 14"/>
          <p:cNvSpPr/>
          <p:nvPr/>
        </p:nvSpPr>
        <p:spPr>
          <a:xfrm>
            <a:off x="6126480" y="1234440"/>
            <a:ext cx="5486400" cy="5074920"/>
          </a:xfrm>
          <a:prstGeom prst="roundRect">
            <a:avLst>
              <a:gd name="adj" fmla="val 1441"/>
            </a:avLst>
          </a:prstGeom>
          <a:solidFill>
            <a:srgbClr val="12314F"/>
          </a:solidFill>
          <a:ln/>
        </p:spPr>
      </p:sp>
      <p:sp>
        <p:nvSpPr>
          <p:cNvPr id="18" name="Shape 15"/>
          <p:cNvSpPr/>
          <p:nvPr/>
        </p:nvSpPr>
        <p:spPr>
          <a:xfrm>
            <a:off x="6446520" y="1463040"/>
            <a:ext cx="502920" cy="502920"/>
          </a:xfrm>
          <a:prstGeom prst="ellipse">
            <a:avLst/>
          </a:prstGeom>
          <a:solidFill>
            <a:srgbClr val="E1562B"/>
          </a:solidFill>
          <a:ln/>
        </p:spPr>
      </p:sp>
      <p:pic>
        <p:nvPicPr>
          <p:cNvPr id="19" name="Image 1" descr="/home/claude/churn_ppt/icons/target.png">    </p:cNvPr>
          <p:cNvPicPr>
            <a:picLocks noChangeAspect="1"/>
          </p:cNvPicPr>
          <p:nvPr/>
        </p:nvPicPr>
        <p:blipFill>
          <a:blip r:embed="rId2"/>
          <a:stretch>
            <a:fillRect/>
          </a:stretch>
        </p:blipFill>
        <p:spPr>
          <a:xfrm>
            <a:off x="6572250" y="1588770"/>
            <a:ext cx="251460" cy="251460"/>
          </a:xfrm>
          <a:prstGeom prst="rect">
            <a:avLst/>
          </a:prstGeom>
        </p:spPr>
      </p:pic>
      <p:sp>
        <p:nvSpPr>
          <p:cNvPr id="20" name="Text 16"/>
          <p:cNvSpPr/>
          <p:nvPr/>
        </p:nvSpPr>
        <p:spPr>
          <a:xfrm>
            <a:off x="7086600" y="1490472"/>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Hasil GridSearchCV</a:t>
            </a:r>
            <a:endParaRPr lang="en-US" sz="1500" dirty="0"/>
          </a:p>
        </p:txBody>
      </p:sp>
      <p:sp>
        <p:nvSpPr>
          <p:cNvPr id="21" name="Text 17"/>
          <p:cNvSpPr/>
          <p:nvPr/>
        </p:nvSpPr>
        <p:spPr>
          <a:xfrm>
            <a:off x="6446520" y="2011680"/>
            <a:ext cx="4846320" cy="320040"/>
          </a:xfrm>
          <a:prstGeom prst="rect">
            <a:avLst/>
          </a:prstGeom>
          <a:noFill/>
          <a:ln/>
        </p:spPr>
        <p:txBody>
          <a:bodyPr wrap="square" rtlCol="0" anchor="ctr"/>
          <a:lstStyle/>
          <a:p>
            <a:pPr indent="0" marL="0">
              <a:buNone/>
            </a:pPr>
            <a:r>
              <a:rPr lang="en-US" sz="1100" i="1" dirty="0">
                <a:solidFill>
                  <a:srgbClr val="8FA7BE"/>
                </a:solidFill>
                <a:latin typeface="Calibri" pitchFamily="34" charset="0"/>
                <a:ea typeface="Calibri" pitchFamily="34" charset="-122"/>
                <a:cs typeface="Calibri" pitchFamily="34" charset="-120"/>
              </a:rPr>
              <a:t>5-Fold CV · scoring: ROC-AUC · 27 kombinasi diuji</a:t>
            </a:r>
            <a:endParaRPr lang="en-US" sz="1100" dirty="0"/>
          </a:p>
        </p:txBody>
      </p:sp>
      <p:sp>
        <p:nvSpPr>
          <p:cNvPr id="22" name="Shape 18"/>
          <p:cNvSpPr/>
          <p:nvPr/>
        </p:nvSpPr>
        <p:spPr>
          <a:xfrm>
            <a:off x="6446520" y="2468880"/>
            <a:ext cx="4846320" cy="777240"/>
          </a:xfrm>
          <a:prstGeom prst="roundRect">
            <a:avLst>
              <a:gd name="adj" fmla="val 7059"/>
            </a:avLst>
          </a:prstGeom>
          <a:solidFill>
            <a:srgbClr val="1A3E60"/>
          </a:solidFill>
          <a:ln/>
        </p:spPr>
      </p:sp>
      <p:sp>
        <p:nvSpPr>
          <p:cNvPr id="23" name="Text 19"/>
          <p:cNvSpPr/>
          <p:nvPr/>
        </p:nvSpPr>
        <p:spPr>
          <a:xfrm>
            <a:off x="6629400" y="2542032"/>
            <a:ext cx="1828800" cy="292608"/>
          </a:xfrm>
          <a:prstGeom prst="rect">
            <a:avLst/>
          </a:prstGeom>
          <a:noFill/>
          <a:ln/>
        </p:spPr>
        <p:txBody>
          <a:bodyPr wrap="square" rtlCol="0" anchor="ctr"/>
          <a:lstStyle/>
          <a:p>
            <a:pPr indent="0" marL="0">
              <a:buNone/>
            </a:pPr>
            <a:r>
              <a:rPr lang="en-US" sz="1050" dirty="0">
                <a:solidFill>
                  <a:srgbClr val="AFC5D8"/>
                </a:solidFill>
                <a:latin typeface="Courier New" pitchFamily="34" charset="0"/>
                <a:ea typeface="Courier New" pitchFamily="34" charset="-122"/>
                <a:cs typeface="Courier New" pitchFamily="34" charset="-120"/>
              </a:rPr>
              <a:t>learning_rate</a:t>
            </a:r>
            <a:endParaRPr lang="en-US" sz="1050" dirty="0"/>
          </a:p>
        </p:txBody>
      </p:sp>
      <p:sp>
        <p:nvSpPr>
          <p:cNvPr id="24" name="Text 20"/>
          <p:cNvSpPr/>
          <p:nvPr/>
        </p:nvSpPr>
        <p:spPr>
          <a:xfrm>
            <a:off x="6629400" y="2798064"/>
            <a:ext cx="1828800" cy="384048"/>
          </a:xfrm>
          <a:prstGeom prst="rect">
            <a:avLst/>
          </a:prstGeom>
          <a:noFill/>
          <a:ln/>
        </p:spPr>
        <p:txBody>
          <a:bodyPr wrap="square" rtlCol="0" anchor="ctr"/>
          <a:lstStyle/>
          <a:p>
            <a:pPr indent="0" marL="0">
              <a:buNone/>
            </a:pPr>
            <a:r>
              <a:rPr lang="en-US" sz="1800" b="1" dirty="0">
                <a:solidFill>
                  <a:srgbClr val="E1562B"/>
                </a:solidFill>
                <a:latin typeface="Cambria" pitchFamily="34" charset="0"/>
                <a:ea typeface="Cambria" pitchFamily="34" charset="-122"/>
                <a:cs typeface="Cambria" pitchFamily="34" charset="-120"/>
              </a:rPr>
              <a:t>0.05</a:t>
            </a:r>
            <a:endParaRPr lang="en-US" sz="1800" dirty="0"/>
          </a:p>
        </p:txBody>
      </p:sp>
      <p:sp>
        <p:nvSpPr>
          <p:cNvPr id="25" name="Text 21"/>
          <p:cNvSpPr/>
          <p:nvPr/>
        </p:nvSpPr>
        <p:spPr>
          <a:xfrm>
            <a:off x="8503920" y="2542032"/>
            <a:ext cx="2651760" cy="640080"/>
          </a:xfrm>
          <a:prstGeom prst="rect">
            <a:avLst/>
          </a:prstGeom>
          <a:noFill/>
          <a:ln/>
        </p:spPr>
        <p:txBody>
          <a:bodyPr wrap="square" rtlCol="0" anchor="ctr"/>
          <a:lstStyle/>
          <a:p>
            <a:pPr indent="0" marL="0">
              <a:lnSpc>
                <a:spcPts val="1300"/>
              </a:lnSpc>
              <a:buNone/>
            </a:pPr>
            <a:r>
              <a:rPr lang="en-US" sz="1000" dirty="0">
                <a:solidFill>
                  <a:srgbClr val="C7D8E6"/>
                </a:solidFill>
                <a:latin typeface="Calibri" pitchFamily="34" charset="0"/>
                <a:ea typeface="Calibri" pitchFamily="34" charset="-122"/>
                <a:cs typeface="Calibri" pitchFamily="34" charset="-120"/>
              </a:rPr>
              <a:t>Belajar bertahap → generalisasi lebih baik</a:t>
            </a:r>
            <a:endParaRPr lang="en-US" sz="1000" dirty="0"/>
          </a:p>
        </p:txBody>
      </p:sp>
      <p:sp>
        <p:nvSpPr>
          <p:cNvPr id="26" name="Shape 22"/>
          <p:cNvSpPr/>
          <p:nvPr/>
        </p:nvSpPr>
        <p:spPr>
          <a:xfrm>
            <a:off x="6446520" y="3383280"/>
            <a:ext cx="4846320" cy="777240"/>
          </a:xfrm>
          <a:prstGeom prst="roundRect">
            <a:avLst>
              <a:gd name="adj" fmla="val 7059"/>
            </a:avLst>
          </a:prstGeom>
          <a:solidFill>
            <a:srgbClr val="1A3E60"/>
          </a:solidFill>
          <a:ln/>
        </p:spPr>
      </p:sp>
      <p:sp>
        <p:nvSpPr>
          <p:cNvPr id="27" name="Text 23"/>
          <p:cNvSpPr/>
          <p:nvPr/>
        </p:nvSpPr>
        <p:spPr>
          <a:xfrm>
            <a:off x="6629400" y="3456432"/>
            <a:ext cx="1828800" cy="292608"/>
          </a:xfrm>
          <a:prstGeom prst="rect">
            <a:avLst/>
          </a:prstGeom>
          <a:noFill/>
          <a:ln/>
        </p:spPr>
        <p:txBody>
          <a:bodyPr wrap="square" rtlCol="0" anchor="ctr"/>
          <a:lstStyle/>
          <a:p>
            <a:pPr indent="0" marL="0">
              <a:buNone/>
            </a:pPr>
            <a:r>
              <a:rPr lang="en-US" sz="1050" dirty="0">
                <a:solidFill>
                  <a:srgbClr val="AFC5D8"/>
                </a:solidFill>
                <a:latin typeface="Courier New" pitchFamily="34" charset="0"/>
                <a:ea typeface="Courier New" pitchFamily="34" charset="-122"/>
                <a:cs typeface="Courier New" pitchFamily="34" charset="-120"/>
              </a:rPr>
              <a:t>max_depth</a:t>
            </a:r>
            <a:endParaRPr lang="en-US" sz="1050" dirty="0"/>
          </a:p>
        </p:txBody>
      </p:sp>
      <p:sp>
        <p:nvSpPr>
          <p:cNvPr id="28" name="Text 24"/>
          <p:cNvSpPr/>
          <p:nvPr/>
        </p:nvSpPr>
        <p:spPr>
          <a:xfrm>
            <a:off x="6629400" y="3712464"/>
            <a:ext cx="1828800" cy="384048"/>
          </a:xfrm>
          <a:prstGeom prst="rect">
            <a:avLst/>
          </a:prstGeom>
          <a:noFill/>
          <a:ln/>
        </p:spPr>
        <p:txBody>
          <a:bodyPr wrap="square" rtlCol="0" anchor="ctr"/>
          <a:lstStyle/>
          <a:p>
            <a:pPr indent="0" marL="0">
              <a:buNone/>
            </a:pPr>
            <a:r>
              <a:rPr lang="en-US" sz="1800" b="1" dirty="0">
                <a:solidFill>
                  <a:srgbClr val="E1562B"/>
                </a:solidFill>
                <a:latin typeface="Cambria" pitchFamily="34" charset="0"/>
                <a:ea typeface="Cambria" pitchFamily="34" charset="-122"/>
                <a:cs typeface="Cambria" pitchFamily="34" charset="-120"/>
              </a:rPr>
              <a:t>3</a:t>
            </a:r>
            <a:endParaRPr lang="en-US" sz="1800" dirty="0"/>
          </a:p>
        </p:txBody>
      </p:sp>
      <p:sp>
        <p:nvSpPr>
          <p:cNvPr id="29" name="Text 25"/>
          <p:cNvSpPr/>
          <p:nvPr/>
        </p:nvSpPr>
        <p:spPr>
          <a:xfrm>
            <a:off x="8503920" y="3456432"/>
            <a:ext cx="2651760" cy="640080"/>
          </a:xfrm>
          <a:prstGeom prst="rect">
            <a:avLst/>
          </a:prstGeom>
          <a:noFill/>
          <a:ln/>
        </p:spPr>
        <p:txBody>
          <a:bodyPr wrap="square" rtlCol="0" anchor="ctr"/>
          <a:lstStyle/>
          <a:p>
            <a:pPr indent="0" marL="0">
              <a:lnSpc>
                <a:spcPts val="1300"/>
              </a:lnSpc>
              <a:buNone/>
            </a:pPr>
            <a:r>
              <a:rPr lang="en-US" sz="1000" dirty="0">
                <a:solidFill>
                  <a:srgbClr val="C7D8E6"/>
                </a:solidFill>
                <a:latin typeface="Calibri" pitchFamily="34" charset="0"/>
                <a:ea typeface="Calibri" pitchFamily="34" charset="-122"/>
                <a:cs typeface="Calibri" pitchFamily="34" charset="-120"/>
              </a:rPr>
              <a:t>Tree lebih sederhana → tahan overfitting</a:t>
            </a:r>
            <a:endParaRPr lang="en-US" sz="1000" dirty="0"/>
          </a:p>
        </p:txBody>
      </p:sp>
      <p:sp>
        <p:nvSpPr>
          <p:cNvPr id="30" name="Shape 26"/>
          <p:cNvSpPr/>
          <p:nvPr/>
        </p:nvSpPr>
        <p:spPr>
          <a:xfrm>
            <a:off x="6446520" y="4297680"/>
            <a:ext cx="4846320" cy="777240"/>
          </a:xfrm>
          <a:prstGeom prst="roundRect">
            <a:avLst>
              <a:gd name="adj" fmla="val 7059"/>
            </a:avLst>
          </a:prstGeom>
          <a:solidFill>
            <a:srgbClr val="1A3E60"/>
          </a:solidFill>
          <a:ln/>
        </p:spPr>
      </p:sp>
      <p:sp>
        <p:nvSpPr>
          <p:cNvPr id="31" name="Text 27"/>
          <p:cNvSpPr/>
          <p:nvPr/>
        </p:nvSpPr>
        <p:spPr>
          <a:xfrm>
            <a:off x="6629400" y="4370832"/>
            <a:ext cx="1828800" cy="292608"/>
          </a:xfrm>
          <a:prstGeom prst="rect">
            <a:avLst/>
          </a:prstGeom>
          <a:noFill/>
          <a:ln/>
        </p:spPr>
        <p:txBody>
          <a:bodyPr wrap="square" rtlCol="0" anchor="ctr"/>
          <a:lstStyle/>
          <a:p>
            <a:pPr indent="0" marL="0">
              <a:buNone/>
            </a:pPr>
            <a:r>
              <a:rPr lang="en-US" sz="1050" dirty="0">
                <a:solidFill>
                  <a:srgbClr val="AFC5D8"/>
                </a:solidFill>
                <a:latin typeface="Courier New" pitchFamily="34" charset="0"/>
                <a:ea typeface="Courier New" pitchFamily="34" charset="-122"/>
                <a:cs typeface="Courier New" pitchFamily="34" charset="-120"/>
              </a:rPr>
              <a:t>n_estimators</a:t>
            </a:r>
            <a:endParaRPr lang="en-US" sz="1050" dirty="0"/>
          </a:p>
        </p:txBody>
      </p:sp>
      <p:sp>
        <p:nvSpPr>
          <p:cNvPr id="32" name="Text 28"/>
          <p:cNvSpPr/>
          <p:nvPr/>
        </p:nvSpPr>
        <p:spPr>
          <a:xfrm>
            <a:off x="6629400" y="4626864"/>
            <a:ext cx="1828800" cy="384048"/>
          </a:xfrm>
          <a:prstGeom prst="rect">
            <a:avLst/>
          </a:prstGeom>
          <a:noFill/>
          <a:ln/>
        </p:spPr>
        <p:txBody>
          <a:bodyPr wrap="square" rtlCol="0" anchor="ctr"/>
          <a:lstStyle/>
          <a:p>
            <a:pPr indent="0" marL="0">
              <a:buNone/>
            </a:pPr>
            <a:r>
              <a:rPr lang="en-US" sz="1800" b="1" dirty="0">
                <a:solidFill>
                  <a:srgbClr val="E1562B"/>
                </a:solidFill>
                <a:latin typeface="Cambria" pitchFamily="34" charset="0"/>
                <a:ea typeface="Cambria" pitchFamily="34" charset="-122"/>
                <a:cs typeface="Cambria" pitchFamily="34" charset="-120"/>
              </a:rPr>
              <a:t>100</a:t>
            </a:r>
            <a:endParaRPr lang="en-US" sz="1800" dirty="0"/>
          </a:p>
        </p:txBody>
      </p:sp>
      <p:sp>
        <p:nvSpPr>
          <p:cNvPr id="33" name="Text 29"/>
          <p:cNvSpPr/>
          <p:nvPr/>
        </p:nvSpPr>
        <p:spPr>
          <a:xfrm>
            <a:off x="8503920" y="4370832"/>
            <a:ext cx="2651760" cy="640080"/>
          </a:xfrm>
          <a:prstGeom prst="rect">
            <a:avLst/>
          </a:prstGeom>
          <a:noFill/>
          <a:ln/>
        </p:spPr>
        <p:txBody>
          <a:bodyPr wrap="square" rtlCol="0" anchor="ctr"/>
          <a:lstStyle/>
          <a:p>
            <a:pPr indent="0" marL="0">
              <a:lnSpc>
                <a:spcPts val="1300"/>
              </a:lnSpc>
              <a:buNone/>
            </a:pPr>
            <a:r>
              <a:rPr lang="en-US" sz="1000" dirty="0">
                <a:solidFill>
                  <a:srgbClr val="C7D8E6"/>
                </a:solidFill>
                <a:latin typeface="Calibri" pitchFamily="34" charset="0"/>
                <a:ea typeface="Calibri" pitchFamily="34" charset="-122"/>
                <a:cs typeface="Calibri" pitchFamily="34" charset="-120"/>
              </a:rPr>
              <a:t>Cukup untuk performa terbaik</a:t>
            </a:r>
            <a:endParaRPr lang="en-US" sz="1000" dirty="0"/>
          </a:p>
        </p:txBody>
      </p:sp>
      <p:sp>
        <p:nvSpPr>
          <p:cNvPr id="34" name="Text 30"/>
          <p:cNvSpPr/>
          <p:nvPr/>
        </p:nvSpPr>
        <p:spPr>
          <a:xfrm>
            <a:off x="6446520" y="5257800"/>
            <a:ext cx="4846320" cy="685800"/>
          </a:xfrm>
          <a:prstGeom prst="rect">
            <a:avLst/>
          </a:prstGeom>
          <a:noFill/>
          <a:ln/>
        </p:spPr>
        <p:txBody>
          <a:bodyPr wrap="square" rtlCol="0" anchor="ctr"/>
          <a:lstStyle/>
          <a:p>
            <a:pPr indent="0" marL="0">
              <a:lnSpc>
                <a:spcPts val="1300"/>
              </a:lnSpc>
              <a:buNone/>
            </a:pPr>
            <a:r>
              <a:rPr lang="en-US" sz="1000" i="1" dirty="0">
                <a:solidFill>
                  <a:srgbClr val="8FA7BE"/>
                </a:solidFill>
                <a:latin typeface="Calibri" pitchFamily="34" charset="0"/>
                <a:ea typeface="Calibri" pitchFamily="34" charset="-122"/>
                <a:cs typeface="Calibri" pitchFamily="34" charset="-120"/>
              </a:rPr>
              <a:t>Distribusi target tidak seimbang (24,4% churn) — ROC-AUC dipilih karena lebih tahan terhadap bias dibanding accuracy.</a:t>
            </a:r>
            <a:endParaRPr lang="en-US" sz="1000" dirty="0"/>
          </a:p>
        </p:txBody>
      </p:sp>
      <p:sp>
        <p:nvSpPr>
          <p:cNvPr id="35" name="Text 31"/>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36" name="Text 32"/>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5C708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2600" b="1" dirty="0">
                <a:solidFill>
                  <a:srgbClr val="12314F"/>
                </a:solidFill>
                <a:latin typeface="Cambria" pitchFamily="34" charset="0"/>
                <a:ea typeface="Cambria" pitchFamily="34" charset="-122"/>
                <a:cs typeface="Cambria" pitchFamily="34" charset="-120"/>
              </a:rPr>
              <a:t>Model Evaluation</a:t>
            </a:r>
            <a:endParaRPr lang="en-US" sz="2600" dirty="0"/>
          </a:p>
        </p:txBody>
      </p:sp>
      <p:sp>
        <p:nvSpPr>
          <p:cNvPr id="3" name="Text 1"/>
          <p:cNvSpPr/>
          <p:nvPr/>
        </p:nvSpPr>
        <p:spPr>
          <a:xfrm>
            <a:off x="548640" y="1005840"/>
            <a:ext cx="8229600" cy="365760"/>
          </a:xfrm>
          <a:prstGeom prst="rect">
            <a:avLst/>
          </a:prstGeom>
          <a:noFill/>
          <a:ln/>
        </p:spPr>
        <p:txBody>
          <a:bodyPr wrap="square" rtlCol="0" anchor="ctr"/>
          <a:lstStyle/>
          <a:p>
            <a:pPr indent="0" marL="0">
              <a:buNone/>
            </a:pPr>
            <a:r>
              <a:rPr lang="en-US" sz="1300" dirty="0">
                <a:solidFill>
                  <a:srgbClr val="5C7086"/>
                </a:solidFill>
                <a:latin typeface="Calibri" pitchFamily="34" charset="0"/>
                <a:ea typeface="Calibri" pitchFamily="34" charset="-122"/>
                <a:cs typeface="Calibri" pitchFamily="34" charset="-120"/>
              </a:rPr>
              <a:t>Evaluasi pada data testing yang belum pernah dilihat model selama training.</a:t>
            </a:r>
            <a:endParaRPr lang="en-US" sz="1300" dirty="0"/>
          </a:p>
        </p:txBody>
      </p:sp>
      <p:sp>
        <p:nvSpPr>
          <p:cNvPr id="4" name="Shape 2"/>
          <p:cNvSpPr/>
          <p:nvPr/>
        </p:nvSpPr>
        <p:spPr>
          <a:xfrm>
            <a:off x="548640" y="1600200"/>
            <a:ext cx="2057400" cy="1554480"/>
          </a:xfrm>
          <a:prstGeom prst="roundRect">
            <a:avLst>
              <a:gd name="adj" fmla="val 4706"/>
            </a:avLst>
          </a:prstGeom>
          <a:solidFill>
            <a:srgbClr val="EAF1F7"/>
          </a:solidFill>
          <a:ln/>
        </p:spPr>
      </p:sp>
      <p:sp>
        <p:nvSpPr>
          <p:cNvPr id="5" name="Text 3"/>
          <p:cNvSpPr/>
          <p:nvPr/>
        </p:nvSpPr>
        <p:spPr>
          <a:xfrm>
            <a:off x="548640" y="1783080"/>
            <a:ext cx="2057400" cy="685800"/>
          </a:xfrm>
          <a:prstGeom prst="rect">
            <a:avLst/>
          </a:prstGeom>
          <a:noFill/>
          <a:ln/>
        </p:spPr>
        <p:txBody>
          <a:bodyPr wrap="square" rtlCol="0" anchor="ctr"/>
          <a:lstStyle/>
          <a:p>
            <a:pPr algn="ctr" indent="0" marL="0">
              <a:buNone/>
            </a:pPr>
            <a:r>
              <a:rPr lang="en-US" sz="2700" b="1" dirty="0">
                <a:solidFill>
                  <a:srgbClr val="12314F"/>
                </a:solidFill>
                <a:latin typeface="Cambria" pitchFamily="34" charset="0"/>
                <a:ea typeface="Cambria" pitchFamily="34" charset="-122"/>
                <a:cs typeface="Cambria" pitchFamily="34" charset="-120"/>
              </a:rPr>
              <a:t>72%</a:t>
            </a:r>
            <a:endParaRPr lang="en-US" sz="2700" dirty="0"/>
          </a:p>
        </p:txBody>
      </p:sp>
      <p:sp>
        <p:nvSpPr>
          <p:cNvPr id="6" name="Text 4"/>
          <p:cNvSpPr/>
          <p:nvPr/>
        </p:nvSpPr>
        <p:spPr>
          <a:xfrm>
            <a:off x="548640" y="2514600"/>
            <a:ext cx="2057400" cy="365760"/>
          </a:xfrm>
          <a:prstGeom prst="rect">
            <a:avLst/>
          </a:prstGeom>
          <a:noFill/>
          <a:ln/>
        </p:spPr>
        <p:txBody>
          <a:bodyPr wrap="square" rtlCol="0" anchor="ctr"/>
          <a:lstStyle/>
          <a:p>
            <a:pPr algn="ctr" indent="0" marL="0">
              <a:buNone/>
            </a:pPr>
            <a:r>
              <a:rPr lang="en-US" sz="1150" dirty="0">
                <a:solidFill>
                  <a:srgbClr val="5C7086"/>
                </a:solidFill>
                <a:latin typeface="Calibri" pitchFamily="34" charset="0"/>
                <a:ea typeface="Calibri" pitchFamily="34" charset="-122"/>
                <a:cs typeface="Calibri" pitchFamily="34" charset="-120"/>
              </a:rPr>
              <a:t>Accuracy</a:t>
            </a:r>
            <a:endParaRPr lang="en-US" sz="1150" dirty="0"/>
          </a:p>
        </p:txBody>
      </p:sp>
      <p:sp>
        <p:nvSpPr>
          <p:cNvPr id="7" name="Shape 5"/>
          <p:cNvSpPr/>
          <p:nvPr/>
        </p:nvSpPr>
        <p:spPr>
          <a:xfrm>
            <a:off x="2743200" y="1600200"/>
            <a:ext cx="2057400" cy="1554480"/>
          </a:xfrm>
          <a:prstGeom prst="roundRect">
            <a:avLst>
              <a:gd name="adj" fmla="val 4706"/>
            </a:avLst>
          </a:prstGeom>
          <a:solidFill>
            <a:srgbClr val="EAF1F7"/>
          </a:solidFill>
          <a:ln/>
        </p:spPr>
      </p:sp>
      <p:sp>
        <p:nvSpPr>
          <p:cNvPr id="8" name="Text 6"/>
          <p:cNvSpPr/>
          <p:nvPr/>
        </p:nvSpPr>
        <p:spPr>
          <a:xfrm>
            <a:off x="2743200" y="1783080"/>
            <a:ext cx="2057400" cy="685800"/>
          </a:xfrm>
          <a:prstGeom prst="rect">
            <a:avLst/>
          </a:prstGeom>
          <a:noFill/>
          <a:ln/>
        </p:spPr>
        <p:txBody>
          <a:bodyPr wrap="square" rtlCol="0" anchor="ctr"/>
          <a:lstStyle/>
          <a:p>
            <a:pPr algn="ctr" indent="0" marL="0">
              <a:buNone/>
            </a:pPr>
            <a:r>
              <a:rPr lang="en-US" sz="2700" b="1" dirty="0">
                <a:solidFill>
                  <a:srgbClr val="12314F"/>
                </a:solidFill>
                <a:latin typeface="Cambria" pitchFamily="34" charset="0"/>
                <a:ea typeface="Cambria" pitchFamily="34" charset="-122"/>
                <a:cs typeface="Cambria" pitchFamily="34" charset="-120"/>
              </a:rPr>
              <a:t>41%</a:t>
            </a:r>
            <a:endParaRPr lang="en-US" sz="2700" dirty="0"/>
          </a:p>
        </p:txBody>
      </p:sp>
      <p:sp>
        <p:nvSpPr>
          <p:cNvPr id="9" name="Text 7"/>
          <p:cNvSpPr/>
          <p:nvPr/>
        </p:nvSpPr>
        <p:spPr>
          <a:xfrm>
            <a:off x="2743200" y="2514600"/>
            <a:ext cx="2057400" cy="365760"/>
          </a:xfrm>
          <a:prstGeom prst="rect">
            <a:avLst/>
          </a:prstGeom>
          <a:noFill/>
          <a:ln/>
        </p:spPr>
        <p:txBody>
          <a:bodyPr wrap="square" rtlCol="0" anchor="ctr"/>
          <a:lstStyle/>
          <a:p>
            <a:pPr algn="ctr" indent="0" marL="0">
              <a:buNone/>
            </a:pPr>
            <a:r>
              <a:rPr lang="en-US" sz="1150" dirty="0">
                <a:solidFill>
                  <a:srgbClr val="5C7086"/>
                </a:solidFill>
                <a:latin typeface="Calibri" pitchFamily="34" charset="0"/>
                <a:ea typeface="Calibri" pitchFamily="34" charset="-122"/>
                <a:cs typeface="Calibri" pitchFamily="34" charset="-120"/>
              </a:rPr>
              <a:t>Precision</a:t>
            </a:r>
            <a:endParaRPr lang="en-US" sz="1150" dirty="0"/>
          </a:p>
        </p:txBody>
      </p:sp>
      <p:sp>
        <p:nvSpPr>
          <p:cNvPr id="10" name="Shape 8"/>
          <p:cNvSpPr/>
          <p:nvPr/>
        </p:nvSpPr>
        <p:spPr>
          <a:xfrm>
            <a:off x="4937760" y="1600200"/>
            <a:ext cx="2057400" cy="1554480"/>
          </a:xfrm>
          <a:prstGeom prst="roundRect">
            <a:avLst>
              <a:gd name="adj" fmla="val 4706"/>
            </a:avLst>
          </a:prstGeom>
          <a:solidFill>
            <a:srgbClr val="12314F"/>
          </a:solidFill>
          <a:ln/>
        </p:spPr>
      </p:sp>
      <p:sp>
        <p:nvSpPr>
          <p:cNvPr id="11" name="Text 9"/>
          <p:cNvSpPr/>
          <p:nvPr/>
        </p:nvSpPr>
        <p:spPr>
          <a:xfrm>
            <a:off x="4937760" y="1783080"/>
            <a:ext cx="2057400" cy="685800"/>
          </a:xfrm>
          <a:prstGeom prst="rect">
            <a:avLst/>
          </a:prstGeom>
          <a:noFill/>
          <a:ln/>
        </p:spPr>
        <p:txBody>
          <a:bodyPr wrap="square" rtlCol="0" anchor="ctr"/>
          <a:lstStyle/>
          <a:p>
            <a:pPr algn="ctr" indent="0" marL="0">
              <a:buNone/>
            </a:pPr>
            <a:r>
              <a:rPr lang="en-US" sz="2700" b="1" dirty="0">
                <a:solidFill>
                  <a:srgbClr val="E1562B"/>
                </a:solidFill>
                <a:latin typeface="Cambria" pitchFamily="34" charset="0"/>
                <a:ea typeface="Cambria" pitchFamily="34" charset="-122"/>
                <a:cs typeface="Cambria" pitchFamily="34" charset="-120"/>
              </a:rPr>
              <a:t>25%</a:t>
            </a:r>
            <a:endParaRPr lang="en-US" sz="2700" dirty="0"/>
          </a:p>
        </p:txBody>
      </p:sp>
      <p:sp>
        <p:nvSpPr>
          <p:cNvPr id="12" name="Text 10"/>
          <p:cNvSpPr/>
          <p:nvPr/>
        </p:nvSpPr>
        <p:spPr>
          <a:xfrm>
            <a:off x="4937760" y="2514600"/>
            <a:ext cx="2057400" cy="36576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Recall</a:t>
            </a:r>
            <a:endParaRPr lang="en-US" sz="1150" dirty="0"/>
          </a:p>
        </p:txBody>
      </p:sp>
      <p:sp>
        <p:nvSpPr>
          <p:cNvPr id="13" name="Shape 11"/>
          <p:cNvSpPr/>
          <p:nvPr/>
        </p:nvSpPr>
        <p:spPr>
          <a:xfrm>
            <a:off x="7132320" y="1600200"/>
            <a:ext cx="2057400" cy="1554480"/>
          </a:xfrm>
          <a:prstGeom prst="roundRect">
            <a:avLst>
              <a:gd name="adj" fmla="val 4706"/>
            </a:avLst>
          </a:prstGeom>
          <a:solidFill>
            <a:srgbClr val="12314F"/>
          </a:solidFill>
          <a:ln/>
        </p:spPr>
      </p:sp>
      <p:sp>
        <p:nvSpPr>
          <p:cNvPr id="14" name="Text 12"/>
          <p:cNvSpPr/>
          <p:nvPr/>
        </p:nvSpPr>
        <p:spPr>
          <a:xfrm>
            <a:off x="7132320" y="1783080"/>
            <a:ext cx="2057400" cy="685800"/>
          </a:xfrm>
          <a:prstGeom prst="rect">
            <a:avLst/>
          </a:prstGeom>
          <a:noFill/>
          <a:ln/>
        </p:spPr>
        <p:txBody>
          <a:bodyPr wrap="square" rtlCol="0" anchor="ctr"/>
          <a:lstStyle/>
          <a:p>
            <a:pPr algn="ctr" indent="0" marL="0">
              <a:buNone/>
            </a:pPr>
            <a:r>
              <a:rPr lang="en-US" sz="2700" b="1" dirty="0">
                <a:solidFill>
                  <a:srgbClr val="E1562B"/>
                </a:solidFill>
                <a:latin typeface="Cambria" pitchFamily="34" charset="0"/>
                <a:ea typeface="Cambria" pitchFamily="34" charset="-122"/>
                <a:cs typeface="Cambria" pitchFamily="34" charset="-120"/>
              </a:rPr>
              <a:t>0.31</a:t>
            </a:r>
            <a:endParaRPr lang="en-US" sz="2700" dirty="0"/>
          </a:p>
        </p:txBody>
      </p:sp>
      <p:sp>
        <p:nvSpPr>
          <p:cNvPr id="15" name="Text 13"/>
          <p:cNvSpPr/>
          <p:nvPr/>
        </p:nvSpPr>
        <p:spPr>
          <a:xfrm>
            <a:off x="7132320" y="2514600"/>
            <a:ext cx="2057400" cy="36576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F1-Score</a:t>
            </a:r>
            <a:endParaRPr lang="en-US" sz="1150" dirty="0"/>
          </a:p>
        </p:txBody>
      </p:sp>
      <p:sp>
        <p:nvSpPr>
          <p:cNvPr id="16" name="Shape 14"/>
          <p:cNvSpPr/>
          <p:nvPr/>
        </p:nvSpPr>
        <p:spPr>
          <a:xfrm>
            <a:off x="9326880" y="1600200"/>
            <a:ext cx="2057400" cy="1554480"/>
          </a:xfrm>
          <a:prstGeom prst="roundRect">
            <a:avLst>
              <a:gd name="adj" fmla="val 4706"/>
            </a:avLst>
          </a:prstGeom>
          <a:solidFill>
            <a:srgbClr val="12314F"/>
          </a:solidFill>
          <a:ln/>
        </p:spPr>
      </p:sp>
      <p:sp>
        <p:nvSpPr>
          <p:cNvPr id="17" name="Text 15"/>
          <p:cNvSpPr/>
          <p:nvPr/>
        </p:nvSpPr>
        <p:spPr>
          <a:xfrm>
            <a:off x="9326880" y="1783080"/>
            <a:ext cx="2057400" cy="685800"/>
          </a:xfrm>
          <a:prstGeom prst="rect">
            <a:avLst/>
          </a:prstGeom>
          <a:noFill/>
          <a:ln/>
        </p:spPr>
        <p:txBody>
          <a:bodyPr wrap="square" rtlCol="0" anchor="ctr"/>
          <a:lstStyle/>
          <a:p>
            <a:pPr algn="ctr" indent="0" marL="0">
              <a:buNone/>
            </a:pPr>
            <a:r>
              <a:rPr lang="en-US" sz="2700" b="1" dirty="0">
                <a:solidFill>
                  <a:srgbClr val="E1562B"/>
                </a:solidFill>
                <a:latin typeface="Cambria" pitchFamily="34" charset="0"/>
                <a:ea typeface="Cambria" pitchFamily="34" charset="-122"/>
                <a:cs typeface="Cambria" pitchFamily="34" charset="-120"/>
              </a:rPr>
              <a:t>0.581</a:t>
            </a:r>
            <a:endParaRPr lang="en-US" sz="2700" dirty="0"/>
          </a:p>
        </p:txBody>
      </p:sp>
      <p:sp>
        <p:nvSpPr>
          <p:cNvPr id="18" name="Text 16"/>
          <p:cNvSpPr/>
          <p:nvPr/>
        </p:nvSpPr>
        <p:spPr>
          <a:xfrm>
            <a:off x="9326880" y="2514600"/>
            <a:ext cx="2057400" cy="36576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ROC-AUC</a:t>
            </a:r>
            <a:endParaRPr lang="en-US" sz="1150" dirty="0"/>
          </a:p>
        </p:txBody>
      </p:sp>
      <p:sp>
        <p:nvSpPr>
          <p:cNvPr id="19" name="Text 17"/>
          <p:cNvSpPr/>
          <p:nvPr/>
        </p:nvSpPr>
        <p:spPr>
          <a:xfrm>
            <a:off x="548640" y="3429000"/>
            <a:ext cx="4572000" cy="274320"/>
          </a:xfrm>
          <a:prstGeom prst="rect">
            <a:avLst/>
          </a:prstGeom>
          <a:noFill/>
          <a:ln/>
        </p:spPr>
        <p:txBody>
          <a:bodyPr wrap="square" rtlCol="0" anchor="ctr"/>
          <a:lstStyle/>
          <a:p>
            <a:pPr indent="0" marL="0">
              <a:buNone/>
            </a:pPr>
            <a:r>
              <a:rPr lang="en-US" sz="1050" b="1" spc="120" kern="0" dirty="0">
                <a:solidFill>
                  <a:srgbClr val="5C7086"/>
                </a:solidFill>
                <a:latin typeface="Calibri" pitchFamily="34" charset="0"/>
                <a:ea typeface="Calibri" pitchFamily="34" charset="-122"/>
                <a:cs typeface="Calibri" pitchFamily="34" charset="-120"/>
              </a:rPr>
              <a:t>CONFUSION MATRIX (DATA TESTING)</a:t>
            </a:r>
            <a:endParaRPr lang="en-US" sz="1050" dirty="0"/>
          </a:p>
        </p:txBody>
      </p:sp>
      <p:sp>
        <p:nvSpPr>
          <p:cNvPr id="20" name="Shape 18"/>
          <p:cNvSpPr/>
          <p:nvPr/>
        </p:nvSpPr>
        <p:spPr>
          <a:xfrm>
            <a:off x="548640" y="3794760"/>
            <a:ext cx="2560320" cy="1051560"/>
          </a:xfrm>
          <a:prstGeom prst="roundRect">
            <a:avLst>
              <a:gd name="adj" fmla="val 5217"/>
            </a:avLst>
          </a:prstGeom>
          <a:solidFill>
            <a:srgbClr val="EAF1F7"/>
          </a:solidFill>
          <a:ln/>
        </p:spPr>
      </p:sp>
      <p:sp>
        <p:nvSpPr>
          <p:cNvPr id="21" name="Text 19"/>
          <p:cNvSpPr/>
          <p:nvPr/>
        </p:nvSpPr>
        <p:spPr>
          <a:xfrm>
            <a:off x="685800" y="3886200"/>
            <a:ext cx="914400" cy="640080"/>
          </a:xfrm>
          <a:prstGeom prst="rect">
            <a:avLst/>
          </a:prstGeom>
          <a:noFill/>
          <a:ln/>
        </p:spPr>
        <p:txBody>
          <a:bodyPr wrap="square" rtlCol="0" anchor="ctr"/>
          <a:lstStyle/>
          <a:p>
            <a:pPr indent="0" marL="0">
              <a:buNone/>
            </a:pPr>
            <a:r>
              <a:rPr lang="en-US" sz="2400" b="1" dirty="0">
                <a:solidFill>
                  <a:srgbClr val="1C7A4E"/>
                </a:solidFill>
                <a:latin typeface="Cambria" pitchFamily="34" charset="0"/>
                <a:ea typeface="Cambria" pitchFamily="34" charset="-122"/>
                <a:cs typeface="Cambria" pitchFamily="34" charset="-120"/>
              </a:rPr>
              <a:t>159</a:t>
            </a:r>
            <a:endParaRPr lang="en-US" sz="2400" dirty="0"/>
          </a:p>
        </p:txBody>
      </p:sp>
      <p:sp>
        <p:nvSpPr>
          <p:cNvPr id="22" name="Text 20"/>
          <p:cNvSpPr/>
          <p:nvPr/>
        </p:nvSpPr>
        <p:spPr>
          <a:xfrm>
            <a:off x="1554480" y="3931920"/>
            <a:ext cx="1463040" cy="777240"/>
          </a:xfrm>
          <a:prstGeom prst="rect">
            <a:avLst/>
          </a:prstGeom>
          <a:noFill/>
          <a:ln/>
        </p:spPr>
        <p:txBody>
          <a:bodyPr wrap="square" rtlCol="0" anchor="ctr"/>
          <a:lstStyle/>
          <a:p>
            <a:pPr indent="0" marL="0">
              <a:lnSpc>
                <a:spcPts val="1200"/>
              </a:lnSpc>
              <a:buNone/>
            </a:pPr>
            <a:r>
              <a:rPr lang="en-US" sz="950" dirty="0">
                <a:solidFill>
                  <a:srgbClr val="1B2B3A"/>
                </a:solidFill>
                <a:latin typeface="Calibri" pitchFamily="34" charset="0"/>
                <a:ea typeface="Calibri" pitchFamily="34" charset="-122"/>
                <a:cs typeface="Calibri" pitchFamily="34" charset="-120"/>
              </a:rPr>
              <a:t>Aktif diprediksi Aktif</a:t>
            </a:r>
            <a:endParaRPr lang="en-US" sz="950" dirty="0"/>
          </a:p>
        </p:txBody>
      </p:sp>
      <p:sp>
        <p:nvSpPr>
          <p:cNvPr id="23" name="Shape 21"/>
          <p:cNvSpPr/>
          <p:nvPr/>
        </p:nvSpPr>
        <p:spPr>
          <a:xfrm>
            <a:off x="3291840" y="3794760"/>
            <a:ext cx="2560320" cy="1051560"/>
          </a:xfrm>
          <a:prstGeom prst="roundRect">
            <a:avLst>
              <a:gd name="adj" fmla="val 5217"/>
            </a:avLst>
          </a:prstGeom>
          <a:solidFill>
            <a:srgbClr val="EAF1F7"/>
          </a:solidFill>
          <a:ln/>
        </p:spPr>
      </p:sp>
      <p:sp>
        <p:nvSpPr>
          <p:cNvPr id="24" name="Text 22"/>
          <p:cNvSpPr/>
          <p:nvPr/>
        </p:nvSpPr>
        <p:spPr>
          <a:xfrm>
            <a:off x="3429000" y="3886200"/>
            <a:ext cx="914400" cy="640080"/>
          </a:xfrm>
          <a:prstGeom prst="rect">
            <a:avLst/>
          </a:prstGeom>
          <a:noFill/>
          <a:ln/>
        </p:spPr>
        <p:txBody>
          <a:bodyPr wrap="square" rtlCol="0" anchor="ctr"/>
          <a:lstStyle/>
          <a:p>
            <a:pPr indent="0" marL="0">
              <a:buNone/>
            </a:pPr>
            <a:r>
              <a:rPr lang="en-US" sz="2400" b="1" dirty="0">
                <a:solidFill>
                  <a:srgbClr val="B3B9C0"/>
                </a:solidFill>
                <a:latin typeface="Cambria" pitchFamily="34" charset="0"/>
                <a:ea typeface="Cambria" pitchFamily="34" charset="-122"/>
                <a:cs typeface="Cambria" pitchFamily="34" charset="-120"/>
              </a:rPr>
              <a:t>22</a:t>
            </a:r>
            <a:endParaRPr lang="en-US" sz="2400" dirty="0"/>
          </a:p>
        </p:txBody>
      </p:sp>
      <p:sp>
        <p:nvSpPr>
          <p:cNvPr id="25" name="Text 23"/>
          <p:cNvSpPr/>
          <p:nvPr/>
        </p:nvSpPr>
        <p:spPr>
          <a:xfrm>
            <a:off x="4297680" y="3931920"/>
            <a:ext cx="1463040" cy="777240"/>
          </a:xfrm>
          <a:prstGeom prst="rect">
            <a:avLst/>
          </a:prstGeom>
          <a:noFill/>
          <a:ln/>
        </p:spPr>
        <p:txBody>
          <a:bodyPr wrap="square" rtlCol="0" anchor="ctr"/>
          <a:lstStyle/>
          <a:p>
            <a:pPr indent="0" marL="0">
              <a:lnSpc>
                <a:spcPts val="1200"/>
              </a:lnSpc>
              <a:buNone/>
            </a:pPr>
            <a:r>
              <a:rPr lang="en-US" sz="950" dirty="0">
                <a:solidFill>
                  <a:srgbClr val="1B2B3A"/>
                </a:solidFill>
                <a:latin typeface="Calibri" pitchFamily="34" charset="0"/>
                <a:ea typeface="Calibri" pitchFamily="34" charset="-122"/>
                <a:cs typeface="Calibri" pitchFamily="34" charset="-120"/>
              </a:rPr>
              <a:t>Aktif diprediksi Churn</a:t>
            </a:r>
            <a:endParaRPr lang="en-US" sz="950" dirty="0"/>
          </a:p>
        </p:txBody>
      </p:sp>
      <p:sp>
        <p:nvSpPr>
          <p:cNvPr id="26" name="Shape 24"/>
          <p:cNvSpPr/>
          <p:nvPr/>
        </p:nvSpPr>
        <p:spPr>
          <a:xfrm>
            <a:off x="548640" y="5029200"/>
            <a:ext cx="2560320" cy="1051560"/>
          </a:xfrm>
          <a:prstGeom prst="roundRect">
            <a:avLst>
              <a:gd name="adj" fmla="val 5217"/>
            </a:avLst>
          </a:prstGeom>
          <a:solidFill>
            <a:srgbClr val="EAF1F7"/>
          </a:solidFill>
          <a:ln/>
        </p:spPr>
      </p:sp>
      <p:sp>
        <p:nvSpPr>
          <p:cNvPr id="27" name="Text 25"/>
          <p:cNvSpPr/>
          <p:nvPr/>
        </p:nvSpPr>
        <p:spPr>
          <a:xfrm>
            <a:off x="685800" y="5120640"/>
            <a:ext cx="914400" cy="640080"/>
          </a:xfrm>
          <a:prstGeom prst="rect">
            <a:avLst/>
          </a:prstGeom>
          <a:noFill/>
          <a:ln/>
        </p:spPr>
        <p:txBody>
          <a:bodyPr wrap="square" rtlCol="0" anchor="ctr"/>
          <a:lstStyle/>
          <a:p>
            <a:pPr indent="0" marL="0">
              <a:buNone/>
            </a:pPr>
            <a:r>
              <a:rPr lang="en-US" sz="2400" b="1" dirty="0">
                <a:solidFill>
                  <a:srgbClr val="E1562B"/>
                </a:solidFill>
                <a:latin typeface="Cambria" pitchFamily="34" charset="0"/>
                <a:ea typeface="Cambria" pitchFamily="34" charset="-122"/>
                <a:cs typeface="Cambria" pitchFamily="34" charset="-120"/>
              </a:rPr>
              <a:t>44</a:t>
            </a:r>
            <a:endParaRPr lang="en-US" sz="2400" dirty="0"/>
          </a:p>
        </p:txBody>
      </p:sp>
      <p:sp>
        <p:nvSpPr>
          <p:cNvPr id="28" name="Text 26"/>
          <p:cNvSpPr/>
          <p:nvPr/>
        </p:nvSpPr>
        <p:spPr>
          <a:xfrm>
            <a:off x="1554480" y="5166360"/>
            <a:ext cx="1463040" cy="777240"/>
          </a:xfrm>
          <a:prstGeom prst="rect">
            <a:avLst/>
          </a:prstGeom>
          <a:noFill/>
          <a:ln/>
        </p:spPr>
        <p:txBody>
          <a:bodyPr wrap="square" rtlCol="0" anchor="ctr"/>
          <a:lstStyle/>
          <a:p>
            <a:pPr indent="0" marL="0">
              <a:lnSpc>
                <a:spcPts val="1200"/>
              </a:lnSpc>
              <a:buNone/>
            </a:pPr>
            <a:r>
              <a:rPr lang="en-US" sz="950" dirty="0">
                <a:solidFill>
                  <a:srgbClr val="1B2B3A"/>
                </a:solidFill>
                <a:latin typeface="Calibri" pitchFamily="34" charset="0"/>
                <a:ea typeface="Calibri" pitchFamily="34" charset="-122"/>
                <a:cs typeface="Calibri" pitchFamily="34" charset="-120"/>
              </a:rPr>
              <a:t>Churn diprediksi Aktif</a:t>
            </a:r>
            <a:endParaRPr lang="en-US" sz="950" dirty="0"/>
          </a:p>
        </p:txBody>
      </p:sp>
      <p:sp>
        <p:nvSpPr>
          <p:cNvPr id="29" name="Shape 27"/>
          <p:cNvSpPr/>
          <p:nvPr/>
        </p:nvSpPr>
        <p:spPr>
          <a:xfrm>
            <a:off x="3291840" y="5029200"/>
            <a:ext cx="2560320" cy="1051560"/>
          </a:xfrm>
          <a:prstGeom prst="roundRect">
            <a:avLst>
              <a:gd name="adj" fmla="val 5217"/>
            </a:avLst>
          </a:prstGeom>
          <a:solidFill>
            <a:srgbClr val="EAF1F7"/>
          </a:solidFill>
          <a:ln/>
        </p:spPr>
      </p:sp>
      <p:sp>
        <p:nvSpPr>
          <p:cNvPr id="30" name="Text 28"/>
          <p:cNvSpPr/>
          <p:nvPr/>
        </p:nvSpPr>
        <p:spPr>
          <a:xfrm>
            <a:off x="3429000" y="5120640"/>
            <a:ext cx="914400" cy="640080"/>
          </a:xfrm>
          <a:prstGeom prst="rect">
            <a:avLst/>
          </a:prstGeom>
          <a:noFill/>
          <a:ln/>
        </p:spPr>
        <p:txBody>
          <a:bodyPr wrap="square" rtlCol="0" anchor="ctr"/>
          <a:lstStyle/>
          <a:p>
            <a:pPr indent="0" marL="0">
              <a:buNone/>
            </a:pPr>
            <a:r>
              <a:rPr lang="en-US" sz="2400" b="1" dirty="0">
                <a:solidFill>
                  <a:srgbClr val="1C7A4E"/>
                </a:solidFill>
                <a:latin typeface="Cambria" pitchFamily="34" charset="0"/>
                <a:ea typeface="Cambria" pitchFamily="34" charset="-122"/>
                <a:cs typeface="Cambria" pitchFamily="34" charset="-120"/>
              </a:rPr>
              <a:t>15</a:t>
            </a:r>
            <a:endParaRPr lang="en-US" sz="2400" dirty="0"/>
          </a:p>
        </p:txBody>
      </p:sp>
      <p:sp>
        <p:nvSpPr>
          <p:cNvPr id="31" name="Text 29"/>
          <p:cNvSpPr/>
          <p:nvPr/>
        </p:nvSpPr>
        <p:spPr>
          <a:xfrm>
            <a:off x="4297680" y="5166360"/>
            <a:ext cx="1463040" cy="777240"/>
          </a:xfrm>
          <a:prstGeom prst="rect">
            <a:avLst/>
          </a:prstGeom>
          <a:noFill/>
          <a:ln/>
        </p:spPr>
        <p:txBody>
          <a:bodyPr wrap="square" rtlCol="0" anchor="ctr"/>
          <a:lstStyle/>
          <a:p>
            <a:pPr indent="0" marL="0">
              <a:lnSpc>
                <a:spcPts val="1200"/>
              </a:lnSpc>
              <a:buNone/>
            </a:pPr>
            <a:r>
              <a:rPr lang="en-US" sz="950" dirty="0">
                <a:solidFill>
                  <a:srgbClr val="1B2B3A"/>
                </a:solidFill>
                <a:latin typeface="Calibri" pitchFamily="34" charset="0"/>
                <a:ea typeface="Calibri" pitchFamily="34" charset="-122"/>
                <a:cs typeface="Calibri" pitchFamily="34" charset="-120"/>
              </a:rPr>
              <a:t>Churn diprediksi Churn</a:t>
            </a:r>
            <a:endParaRPr lang="en-US" sz="950" dirty="0"/>
          </a:p>
        </p:txBody>
      </p:sp>
      <p:sp>
        <p:nvSpPr>
          <p:cNvPr id="32" name="Shape 30"/>
          <p:cNvSpPr/>
          <p:nvPr/>
        </p:nvSpPr>
        <p:spPr>
          <a:xfrm>
            <a:off x="6309360" y="3429000"/>
            <a:ext cx="5303520" cy="3017520"/>
          </a:xfrm>
          <a:prstGeom prst="roundRect">
            <a:avLst>
              <a:gd name="adj" fmla="val 2424"/>
            </a:avLst>
          </a:prstGeom>
          <a:solidFill>
            <a:srgbClr val="12314F"/>
          </a:solidFill>
          <a:ln/>
        </p:spPr>
      </p:sp>
      <p:sp>
        <p:nvSpPr>
          <p:cNvPr id="33" name="Shape 31"/>
          <p:cNvSpPr/>
          <p:nvPr/>
        </p:nvSpPr>
        <p:spPr>
          <a:xfrm>
            <a:off x="6629400" y="3703320"/>
            <a:ext cx="502920" cy="502920"/>
          </a:xfrm>
          <a:prstGeom prst="ellipse">
            <a:avLst/>
          </a:prstGeom>
          <a:solidFill>
            <a:srgbClr val="E1562B"/>
          </a:solidFill>
          <a:ln/>
        </p:spPr>
      </p:sp>
      <p:pic>
        <p:nvPicPr>
          <p:cNvPr id="34" name="Image 0" descr="/home/claude/churn_ppt/icons/warning.png">    </p:cNvPr>
          <p:cNvPicPr>
            <a:picLocks noChangeAspect="1"/>
          </p:cNvPicPr>
          <p:nvPr/>
        </p:nvPicPr>
        <p:blipFill>
          <a:blip r:embed="rId1"/>
          <a:stretch>
            <a:fillRect/>
          </a:stretch>
        </p:blipFill>
        <p:spPr>
          <a:xfrm>
            <a:off x="6742557" y="3816477"/>
            <a:ext cx="276606" cy="276606"/>
          </a:xfrm>
          <a:prstGeom prst="rect">
            <a:avLst/>
          </a:prstGeom>
        </p:spPr>
      </p:pic>
      <p:sp>
        <p:nvSpPr>
          <p:cNvPr id="35" name="Text 32"/>
          <p:cNvSpPr/>
          <p:nvPr/>
        </p:nvSpPr>
        <p:spPr>
          <a:xfrm>
            <a:off x="7315200" y="3767328"/>
            <a:ext cx="3657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Interpretasi</a:t>
            </a:r>
            <a:endParaRPr lang="en-US" sz="1400" dirty="0"/>
          </a:p>
        </p:txBody>
      </p:sp>
      <p:sp>
        <p:nvSpPr>
          <p:cNvPr id="36" name="Text 33"/>
          <p:cNvSpPr/>
          <p:nvPr/>
        </p:nvSpPr>
        <p:spPr>
          <a:xfrm>
            <a:off x="6629400" y="4343400"/>
            <a:ext cx="4709160" cy="1920240"/>
          </a:xfrm>
          <a:prstGeom prst="rect">
            <a:avLst/>
          </a:prstGeom>
          <a:noFill/>
          <a:ln/>
        </p:spPr>
        <p:txBody>
          <a:bodyPr wrap="square" rtlCol="0" anchor="ctr"/>
          <a:lstStyle/>
          <a:p>
            <a:pPr indent="0" marL="0">
              <a:lnSpc>
                <a:spcPts val="1800"/>
              </a:lnSpc>
              <a:buNone/>
            </a:pPr>
            <a:r>
              <a:rPr lang="en-US" sz="1200" dirty="0">
                <a:solidFill>
                  <a:srgbClr val="C7D8E6"/>
                </a:solidFill>
                <a:latin typeface="Calibri" pitchFamily="34" charset="0"/>
                <a:ea typeface="Calibri" pitchFamily="34" charset="-122"/>
                <a:cs typeface="Calibri" pitchFamily="34" charset="-120"/>
              </a:rPr>
              <a:t>Dari 59 pelanggan yang benar-benar churn, model hanya berhasil mengidentifikasi 15 pelanggan — 44 pelanggan churn tidak terdeteksi. ROC-AUC 0,581 menunjukkan kemampuan membedakan churn vs non-churn masih terbatas, hanya sedikit lebih baik dari tebakan acak (0,50).</a:t>
            </a:r>
            <a:endParaRPr lang="en-US" sz="1200" dirty="0"/>
          </a:p>
        </p:txBody>
      </p:sp>
      <p:sp>
        <p:nvSpPr>
          <p:cNvPr id="37" name="Text 34"/>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38" name="Text 35"/>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5C708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2600" b="1" dirty="0">
                <a:solidFill>
                  <a:srgbClr val="12314F"/>
                </a:solidFill>
                <a:latin typeface="Cambria" pitchFamily="34" charset="0"/>
                <a:ea typeface="Cambria" pitchFamily="34" charset="-122"/>
                <a:cs typeface="Cambria" pitchFamily="34" charset="-120"/>
              </a:rPr>
              <a:t>Feature Importance</a:t>
            </a:r>
            <a:endParaRPr lang="en-US" sz="2600" dirty="0"/>
          </a:p>
        </p:txBody>
      </p:sp>
      <p:sp>
        <p:nvSpPr>
          <p:cNvPr id="3" name="Text 1"/>
          <p:cNvSpPr/>
          <p:nvPr/>
        </p:nvSpPr>
        <p:spPr>
          <a:xfrm>
            <a:off x="548640" y="1005840"/>
            <a:ext cx="9144000" cy="365760"/>
          </a:xfrm>
          <a:prstGeom prst="rect">
            <a:avLst/>
          </a:prstGeom>
          <a:noFill/>
          <a:ln/>
        </p:spPr>
        <p:txBody>
          <a:bodyPr wrap="square" rtlCol="0" anchor="ctr"/>
          <a:lstStyle/>
          <a:p>
            <a:pPr indent="0" marL="0">
              <a:buNone/>
            </a:pPr>
            <a:r>
              <a:rPr lang="en-US" sz="1300" dirty="0">
                <a:solidFill>
                  <a:srgbClr val="5C7086"/>
                </a:solidFill>
                <a:latin typeface="Calibri" pitchFamily="34" charset="0"/>
                <a:ea typeface="Calibri" pitchFamily="34" charset="-122"/>
                <a:cs typeface="Calibri" pitchFamily="34" charset="-120"/>
              </a:rPr>
              <a:t>contract_type, support_calls, dan tenure_months menjadi faktor paling berpengaruh terhadap churn.</a:t>
            </a:r>
            <a:endParaRPr lang="en-US" sz="1300" dirty="0"/>
          </a:p>
        </p:txBody>
      </p:sp>
      <p:graphicFrame>
        <p:nvGraphicFramePr>
          <p:cNvPr id="4" name="Chart 0" descr=""/>
          <p:cNvGraphicFramePr/>
          <p:nvPr/>
        </p:nvGraphicFramePr>
        <p:xfrm>
          <a:off x="548640" y="1554480"/>
          <a:ext cx="640080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15200" y="1554480"/>
            <a:ext cx="457200" cy="457200"/>
          </a:xfrm>
          <a:prstGeom prst="ellipse">
            <a:avLst/>
          </a:prstGeom>
          <a:solidFill>
            <a:srgbClr val="E1562B"/>
          </a:solidFill>
          <a:ln/>
        </p:spPr>
      </p:sp>
      <p:pic>
        <p:nvPicPr>
          <p:cNvPr id="6" name="Image 0" descr="/home/claude/churn_ppt/icons/contract.png">    </p:cNvPr>
          <p:cNvPicPr>
            <a:picLocks noChangeAspect="1"/>
          </p:cNvPicPr>
          <p:nvPr/>
        </p:nvPicPr>
        <p:blipFill>
          <a:blip r:embed="rId2"/>
          <a:stretch>
            <a:fillRect/>
          </a:stretch>
        </p:blipFill>
        <p:spPr>
          <a:xfrm>
            <a:off x="7418070" y="1657350"/>
            <a:ext cx="251460" cy="251460"/>
          </a:xfrm>
          <a:prstGeom prst="rect">
            <a:avLst/>
          </a:prstGeom>
        </p:spPr>
      </p:pic>
      <p:sp>
        <p:nvSpPr>
          <p:cNvPr id="7" name="Text 3"/>
          <p:cNvSpPr/>
          <p:nvPr/>
        </p:nvSpPr>
        <p:spPr>
          <a:xfrm>
            <a:off x="7909560" y="1536192"/>
            <a:ext cx="3566160" cy="320040"/>
          </a:xfrm>
          <a:prstGeom prst="rect">
            <a:avLst/>
          </a:prstGeom>
          <a:noFill/>
          <a:ln/>
        </p:spPr>
        <p:txBody>
          <a:bodyPr wrap="square" rtlCol="0" anchor="ctr"/>
          <a:lstStyle/>
          <a:p>
            <a:pPr indent="0" marL="0">
              <a:buNone/>
            </a:pPr>
            <a:r>
              <a:rPr lang="en-US" sz="1250" b="1" dirty="0">
                <a:solidFill>
                  <a:srgbClr val="12314F"/>
                </a:solidFill>
                <a:latin typeface="Calibri" pitchFamily="34" charset="0"/>
                <a:ea typeface="Calibri" pitchFamily="34" charset="-122"/>
                <a:cs typeface="Calibri" pitchFamily="34" charset="-120"/>
              </a:rPr>
              <a:t>contract_type</a:t>
            </a:r>
            <a:endParaRPr lang="en-US" sz="1250" dirty="0"/>
          </a:p>
        </p:txBody>
      </p:sp>
      <p:sp>
        <p:nvSpPr>
          <p:cNvPr id="8" name="Text 4"/>
          <p:cNvSpPr/>
          <p:nvPr/>
        </p:nvSpPr>
        <p:spPr>
          <a:xfrm>
            <a:off x="7909560" y="1874520"/>
            <a:ext cx="3566160" cy="777240"/>
          </a:xfrm>
          <a:prstGeom prst="rect">
            <a:avLst/>
          </a:prstGeom>
          <a:noFill/>
          <a:ln/>
        </p:spPr>
        <p:txBody>
          <a:bodyPr wrap="square" rtlCol="0" anchor="ctr"/>
          <a:lstStyle/>
          <a:p>
            <a:pPr indent="0" marL="0">
              <a:lnSpc>
                <a:spcPts val="1400"/>
              </a:lnSpc>
              <a:buNone/>
            </a:pPr>
            <a:r>
              <a:rPr lang="en-US" sz="1050" dirty="0">
                <a:solidFill>
                  <a:srgbClr val="1B2B3A"/>
                </a:solidFill>
                <a:latin typeface="Calibri" pitchFamily="34" charset="0"/>
                <a:ea typeface="Calibri" pitchFamily="34" charset="-122"/>
                <a:cs typeface="Calibri" pitchFamily="34" charset="-120"/>
              </a:rPr>
              <a:t>Faktor paling berpengaruh — jenis kontrak menentukan komitmen pelanggan.</a:t>
            </a:r>
            <a:endParaRPr lang="en-US" sz="1050" dirty="0"/>
          </a:p>
        </p:txBody>
      </p:sp>
      <p:sp>
        <p:nvSpPr>
          <p:cNvPr id="9" name="Shape 5"/>
          <p:cNvSpPr/>
          <p:nvPr/>
        </p:nvSpPr>
        <p:spPr>
          <a:xfrm>
            <a:off x="7315200" y="2926080"/>
            <a:ext cx="457200" cy="457200"/>
          </a:xfrm>
          <a:prstGeom prst="ellipse">
            <a:avLst/>
          </a:prstGeom>
          <a:solidFill>
            <a:srgbClr val="E1562B"/>
          </a:solidFill>
          <a:ln/>
        </p:spPr>
      </p:sp>
      <p:pic>
        <p:nvPicPr>
          <p:cNvPr id="10" name="Image 1" descr="/home/claude/churn_ppt/icons/headset.png">    </p:cNvPr>
          <p:cNvPicPr>
            <a:picLocks noChangeAspect="1"/>
          </p:cNvPicPr>
          <p:nvPr/>
        </p:nvPicPr>
        <p:blipFill>
          <a:blip r:embed="rId3"/>
          <a:stretch>
            <a:fillRect/>
          </a:stretch>
        </p:blipFill>
        <p:spPr>
          <a:xfrm>
            <a:off x="7418070" y="3028950"/>
            <a:ext cx="251460" cy="251460"/>
          </a:xfrm>
          <a:prstGeom prst="rect">
            <a:avLst/>
          </a:prstGeom>
        </p:spPr>
      </p:pic>
      <p:sp>
        <p:nvSpPr>
          <p:cNvPr id="11" name="Text 6"/>
          <p:cNvSpPr/>
          <p:nvPr/>
        </p:nvSpPr>
        <p:spPr>
          <a:xfrm>
            <a:off x="7909560" y="2907792"/>
            <a:ext cx="3566160" cy="320040"/>
          </a:xfrm>
          <a:prstGeom prst="rect">
            <a:avLst/>
          </a:prstGeom>
          <a:noFill/>
          <a:ln/>
        </p:spPr>
        <p:txBody>
          <a:bodyPr wrap="square" rtlCol="0" anchor="ctr"/>
          <a:lstStyle/>
          <a:p>
            <a:pPr indent="0" marL="0">
              <a:buNone/>
            </a:pPr>
            <a:r>
              <a:rPr lang="en-US" sz="1250" b="1" dirty="0">
                <a:solidFill>
                  <a:srgbClr val="12314F"/>
                </a:solidFill>
                <a:latin typeface="Calibri" pitchFamily="34" charset="0"/>
                <a:ea typeface="Calibri" pitchFamily="34" charset="-122"/>
                <a:cs typeface="Calibri" pitchFamily="34" charset="-120"/>
              </a:rPr>
              <a:t>support_calls</a:t>
            </a:r>
            <a:endParaRPr lang="en-US" sz="1250" dirty="0"/>
          </a:p>
        </p:txBody>
      </p:sp>
      <p:sp>
        <p:nvSpPr>
          <p:cNvPr id="12" name="Text 7"/>
          <p:cNvSpPr/>
          <p:nvPr/>
        </p:nvSpPr>
        <p:spPr>
          <a:xfrm>
            <a:off x="7909560" y="3246120"/>
            <a:ext cx="3566160" cy="777240"/>
          </a:xfrm>
          <a:prstGeom prst="rect">
            <a:avLst/>
          </a:prstGeom>
          <a:noFill/>
          <a:ln/>
        </p:spPr>
        <p:txBody>
          <a:bodyPr wrap="square" rtlCol="0" anchor="ctr"/>
          <a:lstStyle/>
          <a:p>
            <a:pPr indent="0" marL="0">
              <a:lnSpc>
                <a:spcPts val="1400"/>
              </a:lnSpc>
              <a:buNone/>
            </a:pPr>
            <a:r>
              <a:rPr lang="en-US" sz="1050" dirty="0">
                <a:solidFill>
                  <a:srgbClr val="1B2B3A"/>
                </a:solidFill>
                <a:latin typeface="Calibri" pitchFamily="34" charset="0"/>
                <a:ea typeface="Calibri" pitchFamily="34" charset="-122"/>
                <a:cs typeface="Calibri" pitchFamily="34" charset="-120"/>
              </a:rPr>
              <a:t>Semakin sering menghubungi CS, semakin besar pengaruhnya terhadap churn.</a:t>
            </a:r>
            <a:endParaRPr lang="en-US" sz="1050" dirty="0"/>
          </a:p>
        </p:txBody>
      </p:sp>
      <p:sp>
        <p:nvSpPr>
          <p:cNvPr id="13" name="Shape 8"/>
          <p:cNvSpPr/>
          <p:nvPr/>
        </p:nvSpPr>
        <p:spPr>
          <a:xfrm>
            <a:off x="7315200" y="4297680"/>
            <a:ext cx="457200" cy="457200"/>
          </a:xfrm>
          <a:prstGeom prst="ellipse">
            <a:avLst/>
          </a:prstGeom>
          <a:solidFill>
            <a:srgbClr val="E1562B"/>
          </a:solidFill>
          <a:ln/>
        </p:spPr>
      </p:sp>
      <p:pic>
        <p:nvPicPr>
          <p:cNvPr id="14" name="Image 2" descr="/home/claude/churn_ppt/icons/clock.png">    </p:cNvPr>
          <p:cNvPicPr>
            <a:picLocks noChangeAspect="1"/>
          </p:cNvPicPr>
          <p:nvPr/>
        </p:nvPicPr>
        <p:blipFill>
          <a:blip r:embed="rId4"/>
          <a:stretch>
            <a:fillRect/>
          </a:stretch>
        </p:blipFill>
        <p:spPr>
          <a:xfrm>
            <a:off x="7418070" y="4400550"/>
            <a:ext cx="251460" cy="251460"/>
          </a:xfrm>
          <a:prstGeom prst="rect">
            <a:avLst/>
          </a:prstGeom>
        </p:spPr>
      </p:pic>
      <p:sp>
        <p:nvSpPr>
          <p:cNvPr id="15" name="Text 9"/>
          <p:cNvSpPr/>
          <p:nvPr/>
        </p:nvSpPr>
        <p:spPr>
          <a:xfrm>
            <a:off x="7909560" y="4279392"/>
            <a:ext cx="3566160" cy="320040"/>
          </a:xfrm>
          <a:prstGeom prst="rect">
            <a:avLst/>
          </a:prstGeom>
          <a:noFill/>
          <a:ln/>
        </p:spPr>
        <p:txBody>
          <a:bodyPr wrap="square" rtlCol="0" anchor="ctr"/>
          <a:lstStyle/>
          <a:p>
            <a:pPr indent="0" marL="0">
              <a:buNone/>
            </a:pPr>
            <a:r>
              <a:rPr lang="en-US" sz="1250" b="1" dirty="0">
                <a:solidFill>
                  <a:srgbClr val="12314F"/>
                </a:solidFill>
                <a:latin typeface="Calibri" pitchFamily="34" charset="0"/>
                <a:ea typeface="Calibri" pitchFamily="34" charset="-122"/>
                <a:cs typeface="Calibri" pitchFamily="34" charset="-120"/>
              </a:rPr>
              <a:t>tenure_months</a:t>
            </a:r>
            <a:endParaRPr lang="en-US" sz="1250" dirty="0"/>
          </a:p>
        </p:txBody>
      </p:sp>
      <p:sp>
        <p:nvSpPr>
          <p:cNvPr id="16" name="Text 10"/>
          <p:cNvSpPr/>
          <p:nvPr/>
        </p:nvSpPr>
        <p:spPr>
          <a:xfrm>
            <a:off x="7909560" y="4617720"/>
            <a:ext cx="3566160" cy="777240"/>
          </a:xfrm>
          <a:prstGeom prst="rect">
            <a:avLst/>
          </a:prstGeom>
          <a:noFill/>
          <a:ln/>
        </p:spPr>
        <p:txBody>
          <a:bodyPr wrap="square" rtlCol="0" anchor="ctr"/>
          <a:lstStyle/>
          <a:p>
            <a:pPr indent="0" marL="0">
              <a:lnSpc>
                <a:spcPts val="1400"/>
              </a:lnSpc>
              <a:buNone/>
            </a:pPr>
            <a:r>
              <a:rPr lang="en-US" sz="1050" dirty="0">
                <a:solidFill>
                  <a:srgbClr val="1B2B3A"/>
                </a:solidFill>
                <a:latin typeface="Calibri" pitchFamily="34" charset="0"/>
                <a:ea typeface="Calibri" pitchFamily="34" charset="-122"/>
                <a:cs typeface="Calibri" pitchFamily="34" charset="-120"/>
              </a:rPr>
              <a:t>Pelanggan baru (tenure pendek) berisiko churn lebih tinggi.</a:t>
            </a:r>
            <a:endParaRPr lang="en-US" sz="1050" dirty="0"/>
          </a:p>
        </p:txBody>
      </p:sp>
      <p:sp>
        <p:nvSpPr>
          <p:cNvPr id="17" name="Text 11"/>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18" name="Text 12"/>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5C708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14F"/>
        </a:solidFill>
      </p:bgPr>
    </p:bg>
    <p:spTree>
      <p:nvGrpSpPr>
        <p:cNvPr id="1" name=""/>
        <p:cNvGrpSpPr/>
        <p:nvPr/>
      </p:nvGrpSpPr>
      <p:grpSpPr>
        <a:xfrm>
          <a:off x="0" y="0"/>
          <a:ext cx="0" cy="0"/>
          <a:chOff x="0" y="0"/>
          <a:chExt cx="0" cy="0"/>
        </a:xfrm>
      </p:grpSpPr>
      <p:sp>
        <p:nvSpPr>
          <p:cNvPr id="2" name="Text 0"/>
          <p:cNvSpPr/>
          <p:nvPr/>
        </p:nvSpPr>
        <p:spPr>
          <a:xfrm>
            <a:off x="548640" y="411480"/>
            <a:ext cx="1051560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Business Insight &amp; Recommendation</a:t>
            </a:r>
            <a:endParaRPr lang="en-US" sz="2400" dirty="0"/>
          </a:p>
        </p:txBody>
      </p:sp>
      <p:sp>
        <p:nvSpPr>
          <p:cNvPr id="3" name="Shape 1"/>
          <p:cNvSpPr/>
          <p:nvPr/>
        </p:nvSpPr>
        <p:spPr>
          <a:xfrm>
            <a:off x="548640" y="1188720"/>
            <a:ext cx="11064240" cy="1170432"/>
          </a:xfrm>
          <a:prstGeom prst="roundRect">
            <a:avLst>
              <a:gd name="adj" fmla="val 6250"/>
            </a:avLst>
          </a:prstGeom>
          <a:solidFill>
            <a:srgbClr val="1A3E60"/>
          </a:solidFill>
          <a:ln/>
        </p:spPr>
      </p:sp>
      <p:sp>
        <p:nvSpPr>
          <p:cNvPr id="4" name="Shape 2"/>
          <p:cNvSpPr/>
          <p:nvPr/>
        </p:nvSpPr>
        <p:spPr>
          <a:xfrm>
            <a:off x="822960" y="1508760"/>
            <a:ext cx="502920" cy="502920"/>
          </a:xfrm>
          <a:prstGeom prst="ellipse">
            <a:avLst/>
          </a:prstGeom>
          <a:solidFill>
            <a:srgbClr val="E1562B"/>
          </a:solidFill>
          <a:ln/>
        </p:spPr>
      </p:sp>
      <p:pic>
        <p:nvPicPr>
          <p:cNvPr id="5" name="Image 0" descr="/home/claude/churn_ppt/icons/contract.png">    </p:cNvPr>
          <p:cNvPicPr>
            <a:picLocks noChangeAspect="1"/>
          </p:cNvPicPr>
          <p:nvPr/>
        </p:nvPicPr>
        <p:blipFill>
          <a:blip r:embed="rId1"/>
          <a:stretch>
            <a:fillRect/>
          </a:stretch>
        </p:blipFill>
        <p:spPr>
          <a:xfrm>
            <a:off x="936117" y="1621917"/>
            <a:ext cx="276606" cy="276606"/>
          </a:xfrm>
          <a:prstGeom prst="rect">
            <a:avLst/>
          </a:prstGeom>
        </p:spPr>
      </p:pic>
      <p:sp>
        <p:nvSpPr>
          <p:cNvPr id="6" name="Text 3"/>
          <p:cNvSpPr/>
          <p:nvPr/>
        </p:nvSpPr>
        <p:spPr>
          <a:xfrm>
            <a:off x="1691640" y="1307592"/>
            <a:ext cx="3931920" cy="914400"/>
          </a:xfrm>
          <a:prstGeom prst="rect">
            <a:avLst/>
          </a:prstGeom>
          <a:noFill/>
          <a:ln/>
        </p:spPr>
        <p:txBody>
          <a:bodyPr wrap="square" rtlCol="0" anchor="ctr"/>
          <a:lstStyle/>
          <a:p>
            <a:pPr indent="0" marL="0">
              <a:lnSpc>
                <a:spcPts val="1600"/>
              </a:lnSpc>
              <a:buNone/>
            </a:pPr>
            <a:r>
              <a:rPr lang="en-US" sz="1300" b="1" dirty="0">
                <a:solidFill>
                  <a:srgbClr val="FFFFFF"/>
                </a:solidFill>
                <a:latin typeface="Calibri" pitchFamily="34" charset="0"/>
                <a:ea typeface="Calibri" pitchFamily="34" charset="-122"/>
                <a:cs typeface="Calibri" pitchFamily="34" charset="-120"/>
              </a:rPr>
              <a:t>Kontrak Monthly = churn 32,4%</a:t>
            </a:r>
            <a:endParaRPr lang="en-US" sz="1300" dirty="0"/>
          </a:p>
        </p:txBody>
      </p:sp>
      <p:sp>
        <p:nvSpPr>
          <p:cNvPr id="7" name="Text 4"/>
          <p:cNvSpPr/>
          <p:nvPr/>
        </p:nvSpPr>
        <p:spPr>
          <a:xfrm>
            <a:off x="5760720" y="1307592"/>
            <a:ext cx="5669280" cy="914400"/>
          </a:xfrm>
          <a:prstGeom prst="rect">
            <a:avLst/>
          </a:prstGeom>
          <a:noFill/>
          <a:ln/>
        </p:spPr>
        <p:txBody>
          <a:bodyPr wrap="square" rtlCol="0" anchor="ctr"/>
          <a:lstStyle/>
          <a:p>
            <a:pPr indent="0" marL="0">
              <a:lnSpc>
                <a:spcPts val="1600"/>
              </a:lnSpc>
              <a:buNone/>
            </a:pPr>
            <a:r>
              <a:rPr lang="en-US" sz="1200" dirty="0">
                <a:solidFill>
                  <a:srgbClr val="C7D8E6"/>
                </a:solidFill>
                <a:latin typeface="Calibri" pitchFamily="34" charset="0"/>
                <a:ea typeface="Calibri" pitchFamily="34" charset="-122"/>
                <a:cs typeface="Calibri" pitchFamily="34" charset="-120"/>
              </a:rPr>
              <a:t>Promo upgrade ke kontrak 6-bulan/Annual (diskon atau bonus 1 bulan).</a:t>
            </a:r>
            <a:endParaRPr lang="en-US" sz="1200" dirty="0"/>
          </a:p>
        </p:txBody>
      </p:sp>
      <p:sp>
        <p:nvSpPr>
          <p:cNvPr id="8" name="Shape 5"/>
          <p:cNvSpPr/>
          <p:nvPr/>
        </p:nvSpPr>
        <p:spPr>
          <a:xfrm>
            <a:off x="548640" y="2514600"/>
            <a:ext cx="11064240" cy="1170432"/>
          </a:xfrm>
          <a:prstGeom prst="roundRect">
            <a:avLst>
              <a:gd name="adj" fmla="val 6250"/>
            </a:avLst>
          </a:prstGeom>
          <a:solidFill>
            <a:srgbClr val="1A3E60"/>
          </a:solidFill>
          <a:ln/>
        </p:spPr>
      </p:sp>
      <p:sp>
        <p:nvSpPr>
          <p:cNvPr id="9" name="Shape 6"/>
          <p:cNvSpPr/>
          <p:nvPr/>
        </p:nvSpPr>
        <p:spPr>
          <a:xfrm>
            <a:off x="822960" y="2834640"/>
            <a:ext cx="502920" cy="502920"/>
          </a:xfrm>
          <a:prstGeom prst="ellipse">
            <a:avLst/>
          </a:prstGeom>
          <a:solidFill>
            <a:srgbClr val="E1562B"/>
          </a:solidFill>
          <a:ln/>
        </p:spPr>
      </p:sp>
      <p:pic>
        <p:nvPicPr>
          <p:cNvPr id="10" name="Image 1" descr="/home/claude/churn_ppt/icons/headset.png">    </p:cNvPr>
          <p:cNvPicPr>
            <a:picLocks noChangeAspect="1"/>
          </p:cNvPicPr>
          <p:nvPr/>
        </p:nvPicPr>
        <p:blipFill>
          <a:blip r:embed="rId2"/>
          <a:stretch>
            <a:fillRect/>
          </a:stretch>
        </p:blipFill>
        <p:spPr>
          <a:xfrm>
            <a:off x="936117" y="2947797"/>
            <a:ext cx="276606" cy="276606"/>
          </a:xfrm>
          <a:prstGeom prst="rect">
            <a:avLst/>
          </a:prstGeom>
        </p:spPr>
      </p:pic>
      <p:sp>
        <p:nvSpPr>
          <p:cNvPr id="11" name="Text 7"/>
          <p:cNvSpPr/>
          <p:nvPr/>
        </p:nvSpPr>
        <p:spPr>
          <a:xfrm>
            <a:off x="1691640" y="2633472"/>
            <a:ext cx="3931920" cy="914400"/>
          </a:xfrm>
          <a:prstGeom prst="rect">
            <a:avLst/>
          </a:prstGeom>
          <a:noFill/>
          <a:ln/>
        </p:spPr>
        <p:txBody>
          <a:bodyPr wrap="square" rtlCol="0" anchor="ctr"/>
          <a:lstStyle/>
          <a:p>
            <a:pPr indent="0" marL="0">
              <a:lnSpc>
                <a:spcPts val="1600"/>
              </a:lnSpc>
              <a:buNone/>
            </a:pPr>
            <a:r>
              <a:rPr lang="en-US" sz="1300" b="1" dirty="0">
                <a:solidFill>
                  <a:srgbClr val="FFFFFF"/>
                </a:solidFill>
                <a:latin typeface="Calibri" pitchFamily="34" charset="0"/>
                <a:ea typeface="Calibri" pitchFamily="34" charset="-122"/>
                <a:cs typeface="Calibri" pitchFamily="34" charset="-120"/>
              </a:rPr>
              <a:t>Support calls tinggi = sinyal churn</a:t>
            </a:r>
            <a:endParaRPr lang="en-US" sz="1300" dirty="0"/>
          </a:p>
        </p:txBody>
      </p:sp>
      <p:sp>
        <p:nvSpPr>
          <p:cNvPr id="12" name="Text 8"/>
          <p:cNvSpPr/>
          <p:nvPr/>
        </p:nvSpPr>
        <p:spPr>
          <a:xfrm>
            <a:off x="5760720" y="2633472"/>
            <a:ext cx="5669280" cy="914400"/>
          </a:xfrm>
          <a:prstGeom prst="rect">
            <a:avLst/>
          </a:prstGeom>
          <a:noFill/>
          <a:ln/>
        </p:spPr>
        <p:txBody>
          <a:bodyPr wrap="square" rtlCol="0" anchor="ctr"/>
          <a:lstStyle/>
          <a:p>
            <a:pPr indent="0" marL="0">
              <a:lnSpc>
                <a:spcPts val="1600"/>
              </a:lnSpc>
              <a:buNone/>
            </a:pPr>
            <a:r>
              <a:rPr lang="en-US" sz="1200" dirty="0">
                <a:solidFill>
                  <a:srgbClr val="C7D8E6"/>
                </a:solidFill>
                <a:latin typeface="Calibri" pitchFamily="34" charset="0"/>
                <a:ea typeface="Calibri" pitchFamily="34" charset="-122"/>
                <a:cs typeface="Calibri" pitchFamily="34" charset="-120"/>
              </a:rPr>
              <a:t>Prioritaskan priority support untuk pelanggan dengan keluhan tinggi.</a:t>
            </a:r>
            <a:endParaRPr lang="en-US" sz="1200" dirty="0"/>
          </a:p>
        </p:txBody>
      </p:sp>
      <p:sp>
        <p:nvSpPr>
          <p:cNvPr id="13" name="Shape 9"/>
          <p:cNvSpPr/>
          <p:nvPr/>
        </p:nvSpPr>
        <p:spPr>
          <a:xfrm>
            <a:off x="548640" y="3840480"/>
            <a:ext cx="11064240" cy="1170432"/>
          </a:xfrm>
          <a:prstGeom prst="roundRect">
            <a:avLst>
              <a:gd name="adj" fmla="val 6250"/>
            </a:avLst>
          </a:prstGeom>
          <a:solidFill>
            <a:srgbClr val="1A3E60"/>
          </a:solidFill>
          <a:ln/>
        </p:spPr>
      </p:sp>
      <p:sp>
        <p:nvSpPr>
          <p:cNvPr id="14" name="Shape 10"/>
          <p:cNvSpPr/>
          <p:nvPr/>
        </p:nvSpPr>
        <p:spPr>
          <a:xfrm>
            <a:off x="822960" y="4160520"/>
            <a:ext cx="502920" cy="502920"/>
          </a:xfrm>
          <a:prstGeom prst="ellipse">
            <a:avLst/>
          </a:prstGeom>
          <a:solidFill>
            <a:srgbClr val="E1562B"/>
          </a:solidFill>
          <a:ln/>
        </p:spPr>
      </p:sp>
      <p:pic>
        <p:nvPicPr>
          <p:cNvPr id="15" name="Image 2" descr="/home/claude/churn_ppt/icons/creditcard.png">    </p:cNvPr>
          <p:cNvPicPr>
            <a:picLocks noChangeAspect="1"/>
          </p:cNvPicPr>
          <p:nvPr/>
        </p:nvPicPr>
        <p:blipFill>
          <a:blip r:embed="rId3"/>
          <a:stretch>
            <a:fillRect/>
          </a:stretch>
        </p:blipFill>
        <p:spPr>
          <a:xfrm>
            <a:off x="936117" y="4273677"/>
            <a:ext cx="276606" cy="276606"/>
          </a:xfrm>
          <a:prstGeom prst="rect">
            <a:avLst/>
          </a:prstGeom>
        </p:spPr>
      </p:pic>
      <p:sp>
        <p:nvSpPr>
          <p:cNvPr id="16" name="Text 11"/>
          <p:cNvSpPr/>
          <p:nvPr/>
        </p:nvSpPr>
        <p:spPr>
          <a:xfrm>
            <a:off x="1691640" y="3959352"/>
            <a:ext cx="3931920" cy="914400"/>
          </a:xfrm>
          <a:prstGeom prst="rect">
            <a:avLst/>
          </a:prstGeom>
          <a:noFill/>
          <a:ln/>
        </p:spPr>
        <p:txBody>
          <a:bodyPr wrap="square" rtlCol="0" anchor="ctr"/>
          <a:lstStyle/>
          <a:p>
            <a:pPr indent="0" marL="0">
              <a:lnSpc>
                <a:spcPts val="1600"/>
              </a:lnSpc>
              <a:buNone/>
            </a:pPr>
            <a:r>
              <a:rPr lang="en-US" sz="1300" b="1" dirty="0">
                <a:solidFill>
                  <a:srgbClr val="FFFFFF"/>
                </a:solidFill>
                <a:latin typeface="Calibri" pitchFamily="34" charset="0"/>
                <a:ea typeface="Calibri" pitchFamily="34" charset="-122"/>
                <a:cs typeface="Calibri" pitchFamily="34" charset="-120"/>
              </a:rPr>
              <a:t>Non-Autopay lebih rentan churn</a:t>
            </a:r>
            <a:endParaRPr lang="en-US" sz="1300" dirty="0"/>
          </a:p>
        </p:txBody>
      </p:sp>
      <p:sp>
        <p:nvSpPr>
          <p:cNvPr id="17" name="Text 12"/>
          <p:cNvSpPr/>
          <p:nvPr/>
        </p:nvSpPr>
        <p:spPr>
          <a:xfrm>
            <a:off x="5760720" y="3959352"/>
            <a:ext cx="5669280" cy="914400"/>
          </a:xfrm>
          <a:prstGeom prst="rect">
            <a:avLst/>
          </a:prstGeom>
          <a:noFill/>
          <a:ln/>
        </p:spPr>
        <p:txBody>
          <a:bodyPr wrap="square" rtlCol="0" anchor="ctr"/>
          <a:lstStyle/>
          <a:p>
            <a:pPr indent="0" marL="0">
              <a:lnSpc>
                <a:spcPts val="1600"/>
              </a:lnSpc>
              <a:buNone/>
            </a:pPr>
            <a:r>
              <a:rPr lang="en-US" sz="1200" dirty="0">
                <a:solidFill>
                  <a:srgbClr val="C7D8E6"/>
                </a:solidFill>
                <a:latin typeface="Calibri" pitchFamily="34" charset="0"/>
                <a:ea typeface="Calibri" pitchFamily="34" charset="-122"/>
                <a:cs typeface="Calibri" pitchFamily="34" charset="-120"/>
              </a:rPr>
              <a:t>Dorong adopsi Autopay lewat cashback / diskon tagihan.</a:t>
            </a:r>
            <a:endParaRPr lang="en-US" sz="1200" dirty="0"/>
          </a:p>
        </p:txBody>
      </p:sp>
      <p:sp>
        <p:nvSpPr>
          <p:cNvPr id="18" name="Shape 13"/>
          <p:cNvSpPr/>
          <p:nvPr/>
        </p:nvSpPr>
        <p:spPr>
          <a:xfrm>
            <a:off x="548640" y="5166360"/>
            <a:ext cx="11064240" cy="1170432"/>
          </a:xfrm>
          <a:prstGeom prst="roundRect">
            <a:avLst>
              <a:gd name="adj" fmla="val 6250"/>
            </a:avLst>
          </a:prstGeom>
          <a:solidFill>
            <a:srgbClr val="1A3E60"/>
          </a:solidFill>
          <a:ln/>
        </p:spPr>
      </p:sp>
      <p:sp>
        <p:nvSpPr>
          <p:cNvPr id="19" name="Shape 14"/>
          <p:cNvSpPr/>
          <p:nvPr/>
        </p:nvSpPr>
        <p:spPr>
          <a:xfrm>
            <a:off x="822960" y="5486400"/>
            <a:ext cx="502920" cy="502920"/>
          </a:xfrm>
          <a:prstGeom prst="ellipse">
            <a:avLst/>
          </a:prstGeom>
          <a:solidFill>
            <a:srgbClr val="E1562B"/>
          </a:solidFill>
          <a:ln/>
        </p:spPr>
      </p:sp>
      <p:pic>
        <p:nvPicPr>
          <p:cNvPr id="20" name="Image 3" descr="/home/claude/churn_ppt/icons/clock.png">    </p:cNvPr>
          <p:cNvPicPr>
            <a:picLocks noChangeAspect="1"/>
          </p:cNvPicPr>
          <p:nvPr/>
        </p:nvPicPr>
        <p:blipFill>
          <a:blip r:embed="rId4"/>
          <a:stretch>
            <a:fillRect/>
          </a:stretch>
        </p:blipFill>
        <p:spPr>
          <a:xfrm>
            <a:off x="936117" y="5599557"/>
            <a:ext cx="276606" cy="276606"/>
          </a:xfrm>
          <a:prstGeom prst="rect">
            <a:avLst/>
          </a:prstGeom>
        </p:spPr>
      </p:pic>
      <p:sp>
        <p:nvSpPr>
          <p:cNvPr id="21" name="Text 15"/>
          <p:cNvSpPr/>
          <p:nvPr/>
        </p:nvSpPr>
        <p:spPr>
          <a:xfrm>
            <a:off x="1691640" y="5285232"/>
            <a:ext cx="3931920" cy="914400"/>
          </a:xfrm>
          <a:prstGeom prst="rect">
            <a:avLst/>
          </a:prstGeom>
          <a:noFill/>
          <a:ln/>
        </p:spPr>
        <p:txBody>
          <a:bodyPr wrap="square" rtlCol="0" anchor="ctr"/>
          <a:lstStyle/>
          <a:p>
            <a:pPr indent="0" marL="0">
              <a:lnSpc>
                <a:spcPts val="1600"/>
              </a:lnSpc>
              <a:buNone/>
            </a:pPr>
            <a:r>
              <a:rPr lang="en-US" sz="1300" b="1" dirty="0">
                <a:solidFill>
                  <a:srgbClr val="FFFFFF"/>
                </a:solidFill>
                <a:latin typeface="Calibri" pitchFamily="34" charset="0"/>
                <a:ea typeface="Calibri" pitchFamily="34" charset="-122"/>
                <a:cs typeface="Calibri" pitchFamily="34" charset="-120"/>
              </a:rPr>
              <a:t>Tenure pendek = risiko tinggi</a:t>
            </a:r>
            <a:endParaRPr lang="en-US" sz="1300" dirty="0"/>
          </a:p>
        </p:txBody>
      </p:sp>
      <p:sp>
        <p:nvSpPr>
          <p:cNvPr id="22" name="Text 16"/>
          <p:cNvSpPr/>
          <p:nvPr/>
        </p:nvSpPr>
        <p:spPr>
          <a:xfrm>
            <a:off x="5760720" y="5285232"/>
            <a:ext cx="5669280" cy="914400"/>
          </a:xfrm>
          <a:prstGeom prst="rect">
            <a:avLst/>
          </a:prstGeom>
          <a:noFill/>
          <a:ln/>
        </p:spPr>
        <p:txBody>
          <a:bodyPr wrap="square" rtlCol="0" anchor="ctr"/>
          <a:lstStyle/>
          <a:p>
            <a:pPr indent="0" marL="0">
              <a:lnSpc>
                <a:spcPts val="1600"/>
              </a:lnSpc>
              <a:buNone/>
            </a:pPr>
            <a:r>
              <a:rPr lang="en-US" sz="1200" dirty="0">
                <a:solidFill>
                  <a:srgbClr val="C7D8E6"/>
                </a:solidFill>
                <a:latin typeface="Calibri" pitchFamily="34" charset="0"/>
                <a:ea typeface="Calibri" pitchFamily="34" charset="-122"/>
                <a:cs typeface="Calibri" pitchFamily="34" charset="-120"/>
              </a:rPr>
              <a:t>Perkuat onboarding &amp; follow-up di bulan-bulan awal berlangganan.</a:t>
            </a:r>
            <a:endParaRPr lang="en-US" sz="1200" dirty="0"/>
          </a:p>
        </p:txBody>
      </p:sp>
      <p:sp>
        <p:nvSpPr>
          <p:cNvPr id="23" name="Text 17"/>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8FA7BE"/>
                </a:solidFill>
                <a:latin typeface="Calibri" pitchFamily="34" charset="0"/>
                <a:ea typeface="Calibri" pitchFamily="34" charset="-122"/>
                <a:cs typeface="Calibri" pitchFamily="34" charset="-120"/>
              </a:rPr>
              <a:t>PT ABC — Customer Churn Prediction</a:t>
            </a:r>
            <a:endParaRPr lang="en-US" sz="900" dirty="0"/>
          </a:p>
        </p:txBody>
      </p:sp>
      <p:sp>
        <p:nvSpPr>
          <p:cNvPr id="24" name="Text 18"/>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8FA7B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2286000"/>
            <a:ext cx="822960" cy="822960"/>
          </a:xfrm>
          <a:prstGeom prst="ellipse">
            <a:avLst/>
          </a:prstGeom>
          <a:solidFill>
            <a:srgbClr val="EAF1F7"/>
          </a:solidFill>
          <a:ln/>
        </p:spPr>
      </p:sp>
      <p:pic>
        <p:nvPicPr>
          <p:cNvPr id="3" name="Image 0" descr="/home/claude/churn_ppt/icons/warning.png">    </p:cNvPr>
          <p:cNvPicPr>
            <a:picLocks noChangeAspect="1"/>
          </p:cNvPicPr>
          <p:nvPr/>
        </p:nvPicPr>
        <p:blipFill>
          <a:blip r:embed="rId1"/>
          <a:stretch>
            <a:fillRect/>
          </a:stretch>
        </p:blipFill>
        <p:spPr>
          <a:xfrm>
            <a:off x="1028700" y="2491740"/>
            <a:ext cx="411480" cy="411480"/>
          </a:xfrm>
          <a:prstGeom prst="rect">
            <a:avLst/>
          </a:prstGeom>
        </p:spPr>
      </p:pic>
      <p:sp>
        <p:nvSpPr>
          <p:cNvPr id="4" name="Text 1"/>
          <p:cNvSpPr/>
          <p:nvPr/>
        </p:nvSpPr>
        <p:spPr>
          <a:xfrm>
            <a:off x="1920240" y="2148840"/>
            <a:ext cx="8686800" cy="548640"/>
          </a:xfrm>
          <a:prstGeom prst="rect">
            <a:avLst/>
          </a:prstGeom>
          <a:noFill/>
          <a:ln/>
        </p:spPr>
        <p:txBody>
          <a:bodyPr wrap="square" rtlCol="0" anchor="ctr"/>
          <a:lstStyle/>
          <a:p>
            <a:pPr indent="0" marL="0">
              <a:buNone/>
            </a:pPr>
            <a:r>
              <a:rPr lang="en-US" sz="2600" b="1" dirty="0">
                <a:solidFill>
                  <a:srgbClr val="12314F"/>
                </a:solidFill>
                <a:latin typeface="Cambria" pitchFamily="34" charset="0"/>
                <a:ea typeface="Cambria" pitchFamily="34" charset="-122"/>
                <a:cs typeface="Cambria" pitchFamily="34" charset="-120"/>
              </a:rPr>
              <a:t>Catatan &amp; Batasan Model</a:t>
            </a:r>
            <a:endParaRPr lang="en-US" sz="2600" dirty="0"/>
          </a:p>
        </p:txBody>
      </p:sp>
      <p:sp>
        <p:nvSpPr>
          <p:cNvPr id="5" name="Text 2"/>
          <p:cNvSpPr/>
          <p:nvPr/>
        </p:nvSpPr>
        <p:spPr>
          <a:xfrm>
            <a:off x="1920240" y="2788920"/>
            <a:ext cx="8778240" cy="1828800"/>
          </a:xfrm>
          <a:prstGeom prst="rect">
            <a:avLst/>
          </a:prstGeom>
          <a:noFill/>
          <a:ln/>
        </p:spPr>
        <p:txBody>
          <a:bodyPr wrap="square" rtlCol="0" anchor="ctr"/>
          <a:lstStyle/>
          <a:p>
            <a:pPr indent="0" marL="0">
              <a:lnSpc>
                <a:spcPts val="2200"/>
              </a:lnSpc>
              <a:buNone/>
            </a:pPr>
            <a:r>
              <a:rPr lang="en-US" sz="1400" dirty="0">
                <a:solidFill>
                  <a:srgbClr val="1B2B3A"/>
                </a:solidFill>
                <a:latin typeface="Calibri" pitchFamily="34" charset="0"/>
                <a:ea typeface="Calibri" pitchFamily="34" charset="-122"/>
                <a:cs typeface="Calibri" pitchFamily="34" charset="-120"/>
              </a:rPr>
              <a:t>Model pada proyek ini berfungsi sebagai proof of concept (PoC) untuk menunjukkan proses end-to-end pembangunan model prediksi churn — mulai dari data preparation, EDA, feature engineering, model development, hingga rekomendasi bisnis. Pada implementasi produksi, performa model masih dapat ditingkatkan melalui data yang lebih representatif, penambahan fitur relevan, dan optimasi model lebih lanjut.</a:t>
            </a:r>
            <a:endParaRPr lang="en-US" sz="1400" dirty="0"/>
          </a:p>
        </p:txBody>
      </p:sp>
      <p:sp>
        <p:nvSpPr>
          <p:cNvPr id="6" name="Text 3"/>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7" name="Text 4"/>
          <p:cNvSpPr/>
          <p:nvPr/>
        </p:nvSpPr>
        <p:spPr>
          <a:xfrm>
            <a:off x="11338560" y="6537960"/>
            <a:ext cx="365760" cy="274320"/>
          </a:xfrm>
          <a:prstGeom prst="rect">
            <a:avLst/>
          </a:prstGeom>
          <a:noFill/>
          <a:ln/>
        </p:spPr>
        <p:txBody>
          <a:bodyPr wrap="square" rtlCol="0" anchor="ctr"/>
          <a:lstStyle/>
          <a:p>
            <a:pPr algn="r" indent="0" marL="0">
              <a:buNone/>
            </a:pPr>
            <a:r>
              <a:rPr lang="en-US" sz="900" dirty="0">
                <a:solidFill>
                  <a:srgbClr val="5C708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314F"/>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E4A73">
              <a:alpha val="60000"/>
            </a:srgbClr>
          </a:solidFill>
          <a:ln/>
        </p:spPr>
      </p:sp>
      <p:sp>
        <p:nvSpPr>
          <p:cNvPr id="3" name="Shape 1"/>
          <p:cNvSpPr/>
          <p:nvPr/>
        </p:nvSpPr>
        <p:spPr>
          <a:xfrm>
            <a:off x="10058400" y="4572000"/>
            <a:ext cx="4114800" cy="4114800"/>
          </a:xfrm>
          <a:prstGeom prst="ellipse">
            <a:avLst/>
          </a:prstGeom>
          <a:solidFill>
            <a:srgbClr val="E1562B">
              <a:alpha val="40000"/>
            </a:srgbClr>
          </a:solidFill>
          <a:ln/>
        </p:spPr>
      </p:sp>
      <p:sp>
        <p:nvSpPr>
          <p:cNvPr id="4" name="Text 2"/>
          <p:cNvSpPr/>
          <p:nvPr/>
        </p:nvSpPr>
        <p:spPr>
          <a:xfrm>
            <a:off x="0" y="1920240"/>
            <a:ext cx="12161520"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Let's Connect</a:t>
            </a:r>
            <a:endParaRPr lang="en-US" sz="4400" dirty="0"/>
          </a:p>
        </p:txBody>
      </p:sp>
      <p:sp>
        <p:nvSpPr>
          <p:cNvPr id="5" name="Text 3"/>
          <p:cNvSpPr/>
          <p:nvPr/>
        </p:nvSpPr>
        <p:spPr>
          <a:xfrm>
            <a:off x="0" y="2743200"/>
            <a:ext cx="12161520" cy="457200"/>
          </a:xfrm>
          <a:prstGeom prst="rect">
            <a:avLst/>
          </a:prstGeom>
          <a:noFill/>
          <a:ln/>
        </p:spPr>
        <p:txBody>
          <a:bodyPr wrap="square" rtlCol="0" anchor="ctr"/>
          <a:lstStyle/>
          <a:p>
            <a:pPr algn="ctr" indent="0" marL="0">
              <a:buNone/>
            </a:pPr>
            <a:r>
              <a:rPr lang="en-US" sz="1500" i="1" dirty="0">
                <a:solidFill>
                  <a:srgbClr val="C7D8E6"/>
                </a:solidFill>
                <a:latin typeface="Calibri" pitchFamily="34" charset="0"/>
                <a:ea typeface="Calibri" pitchFamily="34" charset="-122"/>
                <a:cs typeface="Calibri" pitchFamily="34" charset="-120"/>
              </a:rPr>
              <a:t>Terima kasih — mari berdiskusi tentang data &amp; analitik lebih lanjut.</a:t>
            </a:r>
            <a:endParaRPr lang="en-US" sz="1500" dirty="0"/>
          </a:p>
        </p:txBody>
      </p:sp>
      <p:sp>
        <p:nvSpPr>
          <p:cNvPr id="6" name="Shape 4"/>
          <p:cNvSpPr/>
          <p:nvPr/>
        </p:nvSpPr>
        <p:spPr>
          <a:xfrm>
            <a:off x="2788920" y="3749040"/>
            <a:ext cx="502920" cy="502920"/>
          </a:xfrm>
          <a:prstGeom prst="ellipse">
            <a:avLst/>
          </a:prstGeom>
          <a:solidFill>
            <a:srgbClr val="1A3E60"/>
          </a:solidFill>
          <a:ln/>
        </p:spPr>
      </p:sp>
      <p:pic>
        <p:nvPicPr>
          <p:cNvPr id="7" name="Image 0" descr="/home/claude/churn_ppt/icons/envelope.png">    </p:cNvPr>
          <p:cNvPicPr>
            <a:picLocks noChangeAspect="1"/>
          </p:cNvPicPr>
          <p:nvPr/>
        </p:nvPicPr>
        <p:blipFill>
          <a:blip r:embed="rId1"/>
          <a:stretch>
            <a:fillRect/>
          </a:stretch>
        </p:blipFill>
        <p:spPr>
          <a:xfrm>
            <a:off x="2914650" y="3874770"/>
            <a:ext cx="251460" cy="251460"/>
          </a:xfrm>
          <a:prstGeom prst="rect">
            <a:avLst/>
          </a:prstGeom>
        </p:spPr>
      </p:pic>
      <p:sp>
        <p:nvSpPr>
          <p:cNvPr id="8" name="Text 5"/>
          <p:cNvSpPr/>
          <p:nvPr/>
        </p:nvSpPr>
        <p:spPr>
          <a:xfrm>
            <a:off x="3429000" y="3794760"/>
            <a:ext cx="3291840" cy="457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miftahulfarohi25@gmail.com</a:t>
            </a:r>
            <a:endParaRPr lang="en-US" sz="1400" dirty="0"/>
          </a:p>
        </p:txBody>
      </p:sp>
      <p:sp>
        <p:nvSpPr>
          <p:cNvPr id="9" name="Shape 6"/>
          <p:cNvSpPr/>
          <p:nvPr/>
        </p:nvSpPr>
        <p:spPr>
          <a:xfrm>
            <a:off x="6126480" y="3749040"/>
            <a:ext cx="502920" cy="502920"/>
          </a:xfrm>
          <a:prstGeom prst="ellipse">
            <a:avLst/>
          </a:prstGeom>
          <a:solidFill>
            <a:srgbClr val="1A3E60"/>
          </a:solidFill>
          <a:ln/>
        </p:spPr>
      </p:sp>
      <p:pic>
        <p:nvPicPr>
          <p:cNvPr id="10" name="Image 1" descr="/home/claude/churn_ppt/icons/linkedin.png">    </p:cNvPr>
          <p:cNvPicPr>
            <a:picLocks noChangeAspect="1"/>
          </p:cNvPicPr>
          <p:nvPr/>
        </p:nvPicPr>
        <p:blipFill>
          <a:blip r:embed="rId2"/>
          <a:stretch>
            <a:fillRect/>
          </a:stretch>
        </p:blipFill>
        <p:spPr>
          <a:xfrm>
            <a:off x="6252210" y="3874770"/>
            <a:ext cx="251460" cy="251460"/>
          </a:xfrm>
          <a:prstGeom prst="rect">
            <a:avLst/>
          </a:prstGeom>
        </p:spPr>
      </p:pic>
      <p:sp>
        <p:nvSpPr>
          <p:cNvPr id="11" name="Text 7"/>
          <p:cNvSpPr/>
          <p:nvPr/>
        </p:nvSpPr>
        <p:spPr>
          <a:xfrm>
            <a:off x="6766560" y="3794760"/>
            <a:ext cx="356616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linkedin.com/in/ahmad-miftahul-farohi</a:t>
            </a:r>
            <a:endParaRPr lang="en-US" sz="1300" dirty="0"/>
          </a:p>
        </p:txBody>
      </p:sp>
      <p:sp>
        <p:nvSpPr>
          <p:cNvPr id="12" name="Text 8"/>
          <p:cNvSpPr/>
          <p:nvPr/>
        </p:nvSpPr>
        <p:spPr>
          <a:xfrm>
            <a:off x="0" y="6035040"/>
            <a:ext cx="12161520" cy="365760"/>
          </a:xfrm>
          <a:prstGeom prst="rect">
            <a:avLst/>
          </a:prstGeom>
          <a:noFill/>
          <a:ln/>
        </p:spPr>
        <p:txBody>
          <a:bodyPr wrap="square" rtlCol="0" anchor="ctr"/>
          <a:lstStyle/>
          <a:p>
            <a:pPr algn="ctr" indent="0" marL="0">
              <a:buNone/>
            </a:pPr>
            <a:r>
              <a:rPr lang="en-US" sz="1200" b="1" dirty="0">
                <a:solidFill>
                  <a:srgbClr val="8FA7BE"/>
                </a:solidFill>
                <a:latin typeface="Calibri" pitchFamily="34" charset="0"/>
                <a:ea typeface="Calibri" pitchFamily="34" charset="-122"/>
                <a:cs typeface="Calibri" pitchFamily="34" charset="-120"/>
              </a:rPr>
              <a:t>Ahmad Miftahul Farohi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2026-07-15T22:43:28Z</dcterms:created>
  <dcterms:modified xsi:type="dcterms:W3CDTF">2026-07-15T22:43:28Z</dcterms:modified>
</cp:coreProperties>
</file>